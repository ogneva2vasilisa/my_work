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8" r:id="rId4"/>
    <p:sldId id="272" r:id="rId5"/>
    <p:sldId id="260" r:id="rId6"/>
    <p:sldId id="266" r:id="rId7"/>
    <p:sldId id="269" r:id="rId8"/>
    <p:sldId id="267" r:id="rId9"/>
    <p:sldId id="262" r:id="rId10"/>
    <p:sldId id="271" r:id="rId11"/>
    <p:sldId id="263" r:id="rId12"/>
    <p:sldId id="273" r:id="rId13"/>
    <p:sldId id="274" r:id="rId14"/>
    <p:sldId id="275" r:id="rId15"/>
    <p:sldId id="270" r:id="rId16"/>
  </p:sldIdLst>
  <p:sldSz cx="14630400" cy="8229600"/>
  <p:notesSz cx="8229600" cy="146304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eebo" pitchFamily="2" charset="-79"/>
      <p:regular r:id="rId22"/>
      <p:bold r:id="rId23"/>
    </p:embeddedFont>
    <p:embeddedFont>
      <p:font typeface="Montserrat" panose="00000500000000000000" pitchFamily="2" charset="-52"/>
      <p:regular r:id="rId24"/>
      <p:bold r:id="rId25"/>
      <p:italic r:id="rId26"/>
      <p:boldItalic r:id="rId27"/>
    </p:embeddedFont>
    <p:embeddedFont>
      <p:font typeface="Prompt" panose="00000500000000000000" pitchFamily="2" charset="-34"/>
      <p:regular r:id="rId28"/>
      <p:bold r:id="rId29"/>
      <p:italic r:id="rId30"/>
      <p:boldItalic r:id="rId3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0218"/>
    <a:srgbClr val="CDD2FF"/>
    <a:srgbClr val="0D0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5226" autoAdjust="0"/>
  </p:normalViewPr>
  <p:slideViewPr>
    <p:cSldViewPr snapToGrid="0" snapToObjects="1">
      <p:cViewPr>
        <p:scale>
          <a:sx n="50" d="100"/>
          <a:sy n="50" d="100"/>
        </p:scale>
        <p:origin x="1493" y="5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186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31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29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7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90586A2-3099-417F-A2BE-1B8AF97AD092}"/>
              </a:ext>
            </a:extLst>
          </p:cNvPr>
          <p:cNvGrpSpPr/>
          <p:nvPr userDrawn="1"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7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sp>
          <p:nvSpPr>
            <p:cNvPr id="3" name="Shape 0"/>
            <p:cNvSpPr/>
            <p:nvPr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rgbClr val="0B0C23">
                <a:alpha val="79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59959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80877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F7DB1-802F-4415-B27D-5969F6CBD9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7D63921D-C6DC-4460-8806-069F6619B3E2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04544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2"/>
          <a:srcRect l="21715" t="27370" r="8797" b="29270"/>
          <a:stretch/>
        </p:blipFill>
        <p:spPr>
          <a:xfrm rot="10800000">
            <a:off x="-1" y="-2"/>
            <a:ext cx="14630400" cy="82295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833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7010E3-6CB9-4A49-B2BF-33B131DF8A6B}"/>
              </a:ext>
            </a:extLst>
          </p:cNvPr>
          <p:cNvGrpSpPr/>
          <p:nvPr userDrawn="1"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11" name="Image 0" descr="preencoded.png">
              <a:extLst>
                <a:ext uri="{FF2B5EF4-FFF2-40B4-BE49-F238E27FC236}">
                  <a16:creationId xmlns:a16="http://schemas.microsoft.com/office/drawing/2014/main" id="{0A1CEF0C-5C92-4E5A-A765-C885D8E86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7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521B0FF0-E762-408A-B474-0EF7E0C33D50}"/>
                </a:ext>
              </a:extLst>
            </p:cNvPr>
            <p:cNvSpPr/>
            <p:nvPr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rgbClr val="0B0C23">
                <a:alpha val="79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834CFD-414F-40E5-99EB-159DDEB221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8491121" y="1"/>
            <a:ext cx="18432001" cy="82296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0D976D5F-6098-4AF3-BEB8-70E1B6B43AA4}"/>
              </a:ext>
            </a:extLst>
          </p:cNvPr>
          <p:cNvSpPr/>
          <p:nvPr userDrawn="1"/>
        </p:nvSpPr>
        <p:spPr>
          <a:xfrm>
            <a:off x="0" y="1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2051081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7010E3-6CB9-4A49-B2BF-33B131DF8A6B}"/>
              </a:ext>
            </a:extLst>
          </p:cNvPr>
          <p:cNvGrpSpPr/>
          <p:nvPr userDrawn="1"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11" name="Image 0" descr="preencoded.png">
              <a:extLst>
                <a:ext uri="{FF2B5EF4-FFF2-40B4-BE49-F238E27FC236}">
                  <a16:creationId xmlns:a16="http://schemas.microsoft.com/office/drawing/2014/main" id="{0A1CEF0C-5C92-4E5A-A765-C885D8E86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7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521B0FF0-E762-408A-B474-0EF7E0C33D50}"/>
                </a:ext>
              </a:extLst>
            </p:cNvPr>
            <p:cNvSpPr/>
            <p:nvPr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rgbClr val="0B0C23">
                <a:alpha val="79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834CFD-414F-40E5-99EB-159DDEB221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469201" y="1"/>
            <a:ext cx="18432001" cy="82296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0D976D5F-6098-4AF3-BEB8-70E1B6B43AA4}"/>
              </a:ext>
            </a:extLst>
          </p:cNvPr>
          <p:cNvSpPr/>
          <p:nvPr userDrawn="1"/>
        </p:nvSpPr>
        <p:spPr>
          <a:xfrm>
            <a:off x="0" y="1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12252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C90A4D8-05CE-4A8F-A6B7-FEF99C8AC5AD}"/>
              </a:ext>
            </a:extLst>
          </p:cNvPr>
          <p:cNvGrpSpPr/>
          <p:nvPr userDrawn="1"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ACB159BF-1A9D-4F81-A6B7-2B0E3D162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7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sp>
          <p:nvSpPr>
            <p:cNvPr id="10" name="Shape 0">
              <a:extLst>
                <a:ext uri="{FF2B5EF4-FFF2-40B4-BE49-F238E27FC236}">
                  <a16:creationId xmlns:a16="http://schemas.microsoft.com/office/drawing/2014/main" id="{6649310F-5AC4-4CF2-971A-887E34E0E9E6}"/>
                </a:ext>
              </a:extLst>
            </p:cNvPr>
            <p:cNvSpPr/>
            <p:nvPr/>
          </p:nvSpPr>
          <p:spPr>
            <a:xfrm>
              <a:off x="0" y="0"/>
              <a:ext cx="14630400" cy="8229600"/>
            </a:xfrm>
            <a:prstGeom prst="rect">
              <a:avLst/>
            </a:prstGeom>
            <a:solidFill>
              <a:srgbClr val="0B0C23">
                <a:alpha val="7900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B857CD-36BD-43C9-9358-CFA5DAE580C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1751545"/>
            <a:ext cx="14630400" cy="11732689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E12256F3-7AF3-4673-8B62-57A2E6D7E386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410282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8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7" r:id="rId4"/>
    <p:sldLayoutId id="2147483654" r:id="rId5"/>
    <p:sldLayoutId id="2147483655" r:id="rId6"/>
    <p:sldLayoutId id="2147483659" r:id="rId7"/>
    <p:sldLayoutId id="2147483658" r:id="rId8"/>
    <p:sldLayoutId id="2147483656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8576" y="1371600"/>
            <a:ext cx="7515923" cy="21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4400" dirty="0">
                <a:solidFill>
                  <a:srgbClr val="C6BFEE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Виртуализация: гипервизоры*, </a:t>
            </a:r>
            <a:r>
              <a:rPr lang="en-US" sz="4400" dirty="0" err="1">
                <a:solidFill>
                  <a:srgbClr val="C6BFEE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libvirt</a:t>
            </a:r>
            <a:r>
              <a:rPr lang="en-US" sz="4400" dirty="0">
                <a:solidFill>
                  <a:srgbClr val="C6BFEE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, open stack, </a:t>
            </a:r>
            <a:r>
              <a:rPr lang="en-US" sz="4400" dirty="0" err="1">
                <a:solidFill>
                  <a:srgbClr val="C6BFEE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opennebula</a:t>
            </a:r>
            <a:endParaRPr lang="en-US" sz="4400" dirty="0">
              <a:latin typeface="Montserrat" panose="00000500000000000000" pitchFamily="2" charset="-52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48576" y="5475249"/>
            <a:ext cx="7515923" cy="2054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Гипервизор</a:t>
            </a:r>
            <a:r>
              <a:rPr lang="ru-RU" sz="1600" dirty="0">
                <a:solidFill>
                  <a:schemeClr val="bg1"/>
                </a:solidFill>
                <a:latin typeface="Montserrat" panose="00000500000000000000" pitchFamily="2" charset="-52"/>
                <a:cs typeface="Heebo" pitchFamily="2" charset="-79"/>
              </a:rPr>
              <a:t>ы *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- это программное обеспечение,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которое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позволяет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запускать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несколько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операционных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систем (ОС) на одном физическом компьютере. Гипервизор создает виртуальную среду для каждой ОС, изолируя ее от других ОС и от физического </a:t>
            </a:r>
            <a:r>
              <a:rPr lang="en-US" sz="1600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оборудования</a:t>
            </a:r>
            <a:r>
              <a:rPr lang="en-US" sz="16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5506AB-6535-45C2-90D3-96BC83DC2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9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58" y="704517"/>
            <a:ext cx="5518670" cy="1325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Типы гипервизоров</a:t>
            </a:r>
            <a:endParaRPr lang="en-US" sz="43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Text 1" hidden="1"/>
          <p:cNvSpPr/>
          <p:nvPr/>
        </p:nvSpPr>
        <p:spPr>
          <a:xfrm>
            <a:off x="1127759" y="4821221"/>
            <a:ext cx="4509111" cy="65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Тип 1 (голый металл)</a:t>
            </a:r>
            <a:endParaRPr lang="en-US" sz="215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Text 3" hidden="1"/>
          <p:cNvSpPr/>
          <p:nvPr/>
        </p:nvSpPr>
        <p:spPr>
          <a:xfrm>
            <a:off x="7981827" y="4821221"/>
            <a:ext cx="3762521" cy="658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Тип 2 (хост-ОС)</a:t>
            </a:r>
            <a:endParaRPr lang="en-US" sz="215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23515" y="4821221"/>
            <a:ext cx="6197317" cy="270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Гипервизор типа 2 запускается поверх существующей операционной системы. Он использует ресурсы хост-ОС для виртуализации гостевых ОС. 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ea typeface="Mukta" pitchFamily="34" charset="-122"/>
              <a:cs typeface="Mukta" pitchFamily="34" charset="-120"/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Примеры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: VMware Workstation, Oracle VirtualBox.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7758" y="4821221"/>
            <a:ext cx="5747604" cy="270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Гипервизор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типа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 1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работает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 непосредственно на оборудовании. Он управляет доступом к ресурсам аппаратного обеспечения и обеспечивает виртуализацию для гостевых ОС.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ea typeface="Mukta" pitchFamily="34" charset="-122"/>
              <a:cs typeface="Mukta" pitchFamily="34" charset="-120"/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 Примеры: Xen, KVM.</a:t>
            </a:r>
            <a:endParaRPr lang="en-US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9DBB88-20D8-4534-A81D-8CCEF1DB7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3289" y="2257918"/>
            <a:ext cx="4406067" cy="2072635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09F7A709-2665-4ED4-AF15-9A36B27B2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515" y="2257918"/>
            <a:ext cx="6197317" cy="2072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9728" y="695291"/>
            <a:ext cx="75939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Функции гипервизора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2195870" y="3342203"/>
            <a:ext cx="403860" cy="109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789429" y="5929134"/>
            <a:ext cx="300549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ресурсами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793790" y="4979432"/>
            <a:ext cx="30054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139446" y="5912806"/>
            <a:ext cx="300561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Виртуализация процессора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4139446" y="4979432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485221" y="5912806"/>
            <a:ext cx="3005614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виртуальными машинами</a:t>
            </a:r>
            <a:endParaRPr lang="en-US" sz="2650" dirty="0"/>
          </a:p>
        </p:txBody>
      </p:sp>
      <p:sp>
        <p:nvSpPr>
          <p:cNvPr id="14" name="Text 8"/>
          <p:cNvSpPr/>
          <p:nvPr/>
        </p:nvSpPr>
        <p:spPr>
          <a:xfrm>
            <a:off x="7485221" y="5404723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0830997" y="5912806"/>
            <a:ext cx="3005614" cy="1701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безопасности и резервное копирование</a:t>
            </a:r>
            <a:endParaRPr lang="en-US" sz="2650" dirty="0"/>
          </a:p>
        </p:txBody>
      </p:sp>
      <p:sp>
        <p:nvSpPr>
          <p:cNvPr id="17" name="Text 10"/>
          <p:cNvSpPr/>
          <p:nvPr/>
        </p:nvSpPr>
        <p:spPr>
          <a:xfrm>
            <a:off x="10830997" y="5830014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C79CCA-EB49-4FF1-831D-907348F4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1056" y="2958195"/>
            <a:ext cx="2627979" cy="262797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19B291C-EF31-4512-885F-59EBC946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731" y="2814129"/>
            <a:ext cx="2590594" cy="259059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A25ABBB-B60A-413C-BE23-5B55288EDE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10" b="6905"/>
          <a:stretch/>
        </p:blipFill>
        <p:spPr>
          <a:xfrm>
            <a:off x="605224" y="2820307"/>
            <a:ext cx="3021511" cy="258898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DDAAC7F-A05A-4B61-A614-5175C726D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681" y="2818700"/>
            <a:ext cx="2590593" cy="2590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59315" y="2708476"/>
            <a:ext cx="13042821" cy="1406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24596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Montserrat" panose="00000500000000000000" pitchFamily="2" charset="-52"/>
                <a:ea typeface="Heebo" pitchFamily="34" charset="-122"/>
                <a:cs typeface="Heebo" pitchFamily="34" charset="-120"/>
              </a:rPr>
              <a:t>Libvirt - это библиотека с открытым исходным кодом, которая предоставляет унифицированный API для управления виртуальными машинами. Libvirt имеет унифицированные механизмы, что позволяет управлять не одним конкретным гипервизором, а разными технологиями виртуализации.</a:t>
            </a:r>
            <a:endParaRPr lang="en-US" sz="20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3039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1512"/>
            <a:ext cx="14630400" cy="2629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0008" y="4236125"/>
            <a:ext cx="473273" cy="47327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1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ext 2" hidden="1"/>
          <p:cNvSpPr/>
          <p:nvPr/>
        </p:nvSpPr>
        <p:spPr>
          <a:xfrm>
            <a:off x="920472" y="4779288"/>
            <a:ext cx="10489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endParaRPr lang="en-US" sz="22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59315" y="4126230"/>
            <a:ext cx="5492945" cy="6731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Создание и 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настройка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 виртуальных машин</a:t>
            </a:r>
          </a:p>
        </p:txBody>
      </p:sp>
      <p:sp>
        <p:nvSpPr>
          <p:cNvPr id="7" name="Text 4"/>
          <p:cNvSpPr/>
          <p:nvPr/>
        </p:nvSpPr>
        <p:spPr>
          <a:xfrm>
            <a:off x="1159315" y="4808220"/>
            <a:ext cx="5790248" cy="70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Libvirt позволяет создавать и настраивать виртуальные машины с использованием XML-описания.</a:t>
            </a:r>
            <a:endParaRPr lang="en-US" sz="1650" dirty="0">
              <a:solidFill>
                <a:srgbClr val="CDD2FF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44088" y="4224873"/>
            <a:ext cx="473273" cy="47327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3</a:t>
            </a:r>
          </a:p>
        </p:txBody>
      </p:sp>
      <p:sp>
        <p:nvSpPr>
          <p:cNvPr id="9" name="Text 6" hidden="1"/>
          <p:cNvSpPr/>
          <p:nvPr/>
        </p:nvSpPr>
        <p:spPr>
          <a:xfrm>
            <a:off x="7574875" y="4779288"/>
            <a:ext cx="16406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2</a:t>
            </a:r>
            <a:endParaRPr lang="en-US" sz="22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0" y="4137948"/>
            <a:ext cx="4084320" cy="692535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Управление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ресурсами</a:t>
            </a:r>
            <a:endParaRPr lang="en-US" sz="2000" b="1" dirty="0">
              <a:solidFill>
                <a:schemeClr val="bg1"/>
              </a:solidFill>
              <a:latin typeface="Montserrat" panose="00000500000000000000" pitchFamily="2" charset="-52"/>
              <a:cs typeface="Prompt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46720" y="4819054"/>
            <a:ext cx="574955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Libvirt обеспечивает контроль над ресурсами, такими как процессор, память и хранилище, для виртуальных машин.</a:t>
            </a:r>
            <a:endParaRPr lang="en-US" sz="1650" dirty="0">
              <a:solidFill>
                <a:srgbClr val="CDD2FF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0008" y="6276677"/>
            <a:ext cx="473273" cy="47327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2</a:t>
            </a:r>
          </a:p>
        </p:txBody>
      </p:sp>
      <p:sp>
        <p:nvSpPr>
          <p:cNvPr id="13" name="Text 10" hidden="1"/>
          <p:cNvSpPr/>
          <p:nvPr/>
        </p:nvSpPr>
        <p:spPr>
          <a:xfrm>
            <a:off x="891540" y="6317575"/>
            <a:ext cx="162639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3</a:t>
            </a:r>
            <a:endParaRPr lang="en-US" sz="22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59315" y="6203751"/>
            <a:ext cx="4136585" cy="546199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Управление</a:t>
            </a:r>
            <a:r>
              <a:rPr lang="en-US" sz="2000" b="1" dirty="0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сетью</a:t>
            </a:r>
            <a:endParaRPr lang="en-US" sz="2000" b="1" dirty="0">
              <a:solidFill>
                <a:schemeClr val="bg1"/>
              </a:solidFill>
              <a:latin typeface="Montserrat" panose="00000500000000000000" pitchFamily="2" charset="-52"/>
              <a:cs typeface="Prompt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59315" y="6869668"/>
            <a:ext cx="5871922" cy="70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Libvirt предоставляет функции для настройки виртуальных </a:t>
            </a:r>
            <a:r>
              <a:rPr lang="en-US" sz="1650" dirty="0" err="1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сетей</a:t>
            </a:r>
            <a:r>
              <a:rPr lang="en-US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.</a:t>
            </a:r>
            <a:endParaRPr lang="en-US" sz="1650" dirty="0">
              <a:solidFill>
                <a:srgbClr val="CDD2FF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44087" y="6273462"/>
            <a:ext cx="473273" cy="473273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4</a:t>
            </a:r>
          </a:p>
        </p:txBody>
      </p:sp>
      <p:sp>
        <p:nvSpPr>
          <p:cNvPr id="17" name="Text 14" hidden="1"/>
          <p:cNvSpPr/>
          <p:nvPr/>
        </p:nvSpPr>
        <p:spPr>
          <a:xfrm>
            <a:off x="7571542" y="6317575"/>
            <a:ext cx="17085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-52"/>
                <a:ea typeface="Prompt" pitchFamily="34" charset="-122"/>
                <a:cs typeface="Prompt" pitchFamily="34" charset="-120"/>
              </a:rPr>
              <a:t>4</a:t>
            </a:r>
            <a:endParaRPr lang="en-US" sz="22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046719" y="6221254"/>
            <a:ext cx="3389067" cy="648414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>
              <a:lnSpc>
                <a:spcPts val="2300"/>
              </a:lnSpc>
            </a:pPr>
            <a:r>
              <a:rPr lang="ru-RU" sz="2000" b="1">
                <a:solidFill>
                  <a:schemeClr val="bg1"/>
                </a:solidFill>
                <a:latin typeface="Montserrat" panose="00000500000000000000" pitchFamily="2" charset="-52"/>
                <a:cs typeface="Prompt" pitchFamily="34" charset="-120"/>
              </a:rPr>
              <a:t>Легкость развёртывания</a:t>
            </a:r>
            <a:endParaRPr lang="en-US" sz="2000" b="1" dirty="0">
              <a:solidFill>
                <a:schemeClr val="bg1"/>
              </a:solidFill>
              <a:latin typeface="Montserrat" panose="00000500000000000000" pitchFamily="2" charset="-52"/>
              <a:cs typeface="Prompt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046720" y="6884133"/>
            <a:ext cx="572547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 err="1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Libvirt</a:t>
            </a:r>
            <a:r>
              <a:rPr lang="en-US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 </a:t>
            </a:r>
            <a:r>
              <a:rPr lang="ru-RU" sz="1650" dirty="0">
                <a:solidFill>
                  <a:srgbClr val="CDD2FF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можно запустить на домашнем компьютере без проблем.</a:t>
            </a:r>
            <a:endParaRPr lang="en-US" sz="1650" dirty="0">
              <a:solidFill>
                <a:srgbClr val="CDD2FF"/>
              </a:solidFill>
              <a:latin typeface="Montserrat" panose="00000500000000000000" pitchFamily="2" charset="-52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5BDFEA8-99E6-4453-8C8A-AF163E0397B7}"/>
              </a:ext>
            </a:extLst>
          </p:cNvPr>
          <p:cNvSpPr/>
          <p:nvPr/>
        </p:nvSpPr>
        <p:spPr>
          <a:xfrm>
            <a:off x="8802312" y="2685327"/>
            <a:ext cx="13042821" cy="1440903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 algn="r">
              <a:lnSpc>
                <a:spcPts val="7700"/>
              </a:lnSpc>
              <a:buNone/>
            </a:pPr>
            <a:r>
              <a:rPr lang="en-US" sz="6600" dirty="0">
                <a:solidFill>
                  <a:schemeClr val="bg1"/>
                </a:solidFill>
                <a:latin typeface="Montserrat" panose="00000500000000000000" pitchFamily="2" charset="-52"/>
                <a:ea typeface="Montserrat" pitchFamily="34" charset="-122"/>
                <a:cs typeface="Montserrat" pitchFamily="34" charset="-120"/>
              </a:rPr>
              <a:t>OpenStack</a:t>
            </a:r>
            <a:endParaRPr lang="en-US" sz="615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6D7B60A-0043-409B-8E77-BC6EC3725B2F}"/>
              </a:ext>
            </a:extLst>
          </p:cNvPr>
          <p:cNvSpPr/>
          <p:nvPr/>
        </p:nvSpPr>
        <p:spPr>
          <a:xfrm>
            <a:off x="1159315" y="2708476"/>
            <a:ext cx="13042821" cy="1406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81272" y="2685327"/>
            <a:ext cx="13042821" cy="1440903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 algn="r">
              <a:lnSpc>
                <a:spcPts val="7700"/>
              </a:lnSpc>
              <a:buNone/>
            </a:pPr>
            <a:r>
              <a:rPr lang="en-US" sz="6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OpenStack</a:t>
            </a:r>
            <a:endParaRPr lang="en-US" sz="61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CA3A208-2301-4DCB-92C9-FF036E49C48E}"/>
              </a:ext>
            </a:extLst>
          </p:cNvPr>
          <p:cNvSpPr/>
          <p:nvPr/>
        </p:nvSpPr>
        <p:spPr>
          <a:xfrm>
            <a:off x="-6323525" y="2708476"/>
            <a:ext cx="13042821" cy="1406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 hidden="1">
            <a:extLst>
              <a:ext uri="{FF2B5EF4-FFF2-40B4-BE49-F238E27FC236}">
                <a16:creationId xmlns:a16="http://schemas.microsoft.com/office/drawing/2014/main" id="{9BE1990F-8997-446B-95A3-88A48357CC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649F6973-17CB-4828-A35F-F45C3F03323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>
            <a:gsLst>
              <a:gs pos="100000">
                <a:srgbClr val="0D0A2C">
                  <a:alpha val="0"/>
                </a:srgbClr>
              </a:gs>
              <a:gs pos="0">
                <a:srgbClr val="0D0A2C">
                  <a:alpha val="70000"/>
                </a:srgbClr>
              </a:gs>
            </a:gsLst>
            <a:lin ang="0" scaled="0"/>
          </a:gradFill>
          <a:ln/>
        </p:spPr>
      </p:sp>
      <p:sp>
        <p:nvSpPr>
          <p:cNvPr id="4" name="Shape 0" hidden="1">
            <a:extLst>
              <a:ext uri="{FF2B5EF4-FFF2-40B4-BE49-F238E27FC236}">
                <a16:creationId xmlns:a16="http://schemas.microsoft.com/office/drawing/2014/main" id="{19B3B548-88FA-474C-A553-7C470BE857F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0"/>
            </a:srgbClr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7C46C25-B8AE-44F8-93E7-7EAA1D766A47}"/>
              </a:ext>
            </a:extLst>
          </p:cNvPr>
          <p:cNvSpPr/>
          <p:nvPr/>
        </p:nvSpPr>
        <p:spPr>
          <a:xfrm>
            <a:off x="481272" y="659758"/>
            <a:ext cx="13042821" cy="1440903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 algn="r">
              <a:lnSpc>
                <a:spcPts val="7700"/>
              </a:lnSpc>
              <a:buNone/>
            </a:pPr>
            <a:r>
              <a:rPr lang="en-US" sz="6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OpenStack</a:t>
            </a:r>
            <a:endParaRPr lang="en-US" sz="615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7B0AD7-44D5-487C-988A-EB2DF6C09FD3}"/>
              </a:ext>
            </a:extLst>
          </p:cNvPr>
          <p:cNvSpPr/>
          <p:nvPr/>
        </p:nvSpPr>
        <p:spPr>
          <a:xfrm>
            <a:off x="7355346" y="2823668"/>
            <a:ext cx="6168747" cy="468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750"/>
              </a:lnSpc>
            </a:pPr>
            <a:r>
              <a:rPr lang="ru-RU" sz="18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OpenStack</a:t>
            </a:r>
            <a:r>
              <a:rPr lang="ru-RU" sz="18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- это облачная операционная система, которая управляет большими пулами вычислительных ресурсов, хранилищ и сетей в центре обработки данных, все это управляется с помощью API. </a:t>
            </a:r>
            <a:r>
              <a:rPr lang="ru-RU" sz="18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OpenStack</a:t>
            </a:r>
            <a:r>
              <a:rPr lang="ru-RU" sz="18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предоставляет набор взаимосвязанных сервисов, которые обеспечивают масштабируемость инфраструктуры. Также доступна панель мониторинга, которая позволяет администраторам предоставлять ресурсы через веб-интерфейс.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Montserrat" panose="00000500000000000000" pitchFamily="2" charset="-52"/>
                <a:ea typeface="Mukta" pitchFamily="34" charset="-122"/>
                <a:cs typeface="Mukta" pitchFamily="34" charset="-120"/>
              </a:rPr>
              <a:t>.</a:t>
            </a:r>
            <a:endParaRPr lang="en-US" sz="1700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B29F24E5-75F7-44C2-9216-1476901DB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07" y="1634133"/>
            <a:ext cx="4961334" cy="4961334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4F126EB0-CB5B-4911-B2BF-0C4AE0CA7ABA}"/>
              </a:ext>
            </a:extLst>
          </p:cNvPr>
          <p:cNvSpPr/>
          <p:nvPr/>
        </p:nvSpPr>
        <p:spPr>
          <a:xfrm>
            <a:off x="-5172041" y="2766350"/>
            <a:ext cx="13042821" cy="1351308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6150" dirty="0" err="1">
                <a:solidFill>
                  <a:srgbClr val="F2F0F4"/>
                </a:solidFill>
                <a:latin typeface="Montserrat" pitchFamily="34" charset="0"/>
              </a:rPr>
              <a:t>OpenNebula</a:t>
            </a:r>
            <a:endParaRPr lang="en-US" sz="6150" dirty="0">
              <a:solidFill>
                <a:srgbClr val="F2F0F4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27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47741" y="2766350"/>
            <a:ext cx="13042821" cy="1351308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6150" dirty="0" err="1">
                <a:solidFill>
                  <a:srgbClr val="F2F0F4"/>
                </a:solidFill>
                <a:latin typeface="Montserrat" pitchFamily="34" charset="0"/>
              </a:rPr>
              <a:t>OpenNebula</a:t>
            </a:r>
            <a:endParaRPr lang="en-US" sz="6150" dirty="0">
              <a:solidFill>
                <a:srgbClr val="F2F0F4"/>
              </a:solidFill>
              <a:latin typeface="Montserrat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1C8A343-2F93-47DA-8314-5A07036C44E4}"/>
              </a:ext>
            </a:extLst>
          </p:cNvPr>
          <p:cNvSpPr/>
          <p:nvPr/>
        </p:nvSpPr>
        <p:spPr>
          <a:xfrm>
            <a:off x="11442508" y="659758"/>
            <a:ext cx="13042821" cy="1440903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 algn="r">
              <a:lnSpc>
                <a:spcPts val="7700"/>
              </a:lnSpc>
              <a:buNone/>
            </a:pPr>
            <a:r>
              <a:rPr lang="en-US" sz="6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OpenStack</a:t>
            </a:r>
            <a:endParaRPr lang="en-US" sz="6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>
            <a:extLst>
              <a:ext uri="{FF2B5EF4-FFF2-40B4-BE49-F238E27FC236}">
                <a16:creationId xmlns:a16="http://schemas.microsoft.com/office/drawing/2014/main" id="{41A85C5F-DBA9-43E3-8DD9-5172968004C4}"/>
              </a:ext>
            </a:extLst>
          </p:cNvPr>
          <p:cNvSpPr/>
          <p:nvPr/>
        </p:nvSpPr>
        <p:spPr>
          <a:xfrm>
            <a:off x="1147741" y="711366"/>
            <a:ext cx="13042821" cy="1351308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6150" dirty="0" err="1">
                <a:solidFill>
                  <a:srgbClr val="F2F0F4"/>
                </a:solidFill>
                <a:latin typeface="Montserrat" pitchFamily="34" charset="0"/>
              </a:rPr>
              <a:t>OpenNebula</a:t>
            </a:r>
            <a:endParaRPr lang="en-US" sz="6150" dirty="0">
              <a:solidFill>
                <a:srgbClr val="F2F0F4"/>
              </a:solidFill>
              <a:latin typeface="Montserrat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91835CC-412E-4D40-A97C-BD133633C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089" y="1693274"/>
            <a:ext cx="6577435" cy="58249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9C037D3-793E-4047-B8D7-86A69FAB564C}"/>
              </a:ext>
            </a:extLst>
          </p:cNvPr>
          <p:cNvSpPr txBox="1"/>
          <p:nvPr/>
        </p:nvSpPr>
        <p:spPr>
          <a:xfrm>
            <a:off x="1147741" y="2738327"/>
            <a:ext cx="5487235" cy="342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>
              <a:lnSpc>
                <a:spcPts val="2750"/>
              </a:lnSpc>
              <a:defRPr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defRPr>
            </a:lvl1pPr>
          </a:lstStyle>
          <a:p>
            <a:r>
              <a:rPr lang="en-US" dirty="0" err="1">
                <a:latin typeface="Heebo" pitchFamily="2" charset="-79"/>
                <a:cs typeface="Heebo" pitchFamily="2" charset="-79"/>
              </a:rPr>
              <a:t>OpenNebula</a:t>
            </a:r>
            <a:r>
              <a:rPr lang="ru-RU" dirty="0">
                <a:cs typeface="Heebo" pitchFamily="2" charset="-79"/>
              </a:rPr>
              <a:t> — это платформа с открытым исходным кодом для управления облачными ресурсами, которая включает в себя функции гипервизора. Она сочетает в себе виртуализацию и контейнеризацию.</a:t>
            </a:r>
          </a:p>
          <a:p>
            <a:r>
              <a:rPr lang="ru-RU" dirty="0">
                <a:cs typeface="Heebo" pitchFamily="2" charset="-79"/>
              </a:rPr>
              <a:t>Поддерживает различные гипервизоры, такие как KVM, </a:t>
            </a:r>
            <a:r>
              <a:rPr lang="ru-RU" dirty="0" err="1">
                <a:cs typeface="Heebo" pitchFamily="2" charset="-79"/>
              </a:rPr>
              <a:t>Xen</a:t>
            </a:r>
            <a:r>
              <a:rPr lang="ru-RU" dirty="0">
                <a:cs typeface="Heebo" pitchFamily="2" charset="-79"/>
              </a:rPr>
              <a:t> и VMware.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638"/>
            <a:ext cx="9259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уровня абстракции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84" y="3264218"/>
            <a:ext cx="6182201" cy="87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4920" y="34910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OpenStack</a:t>
            </a:r>
            <a:endParaRPr lang="en-US" sz="2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722" y="4199811"/>
            <a:ext cx="5048845" cy="8789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14920" y="44266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OpenNebula</a:t>
            </a:r>
            <a:endParaRPr lang="en-US" sz="2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459" y="5135404"/>
            <a:ext cx="3915370" cy="8789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61617" y="5362218"/>
            <a:ext cx="29090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 err="1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</a:t>
            </a:r>
            <a:endParaRPr lang="en-US" sz="2650" dirty="0"/>
          </a:p>
        </p:txBody>
      </p:sp>
      <p:sp>
        <p:nvSpPr>
          <p:cNvPr id="9" name="Text 4"/>
          <p:cNvSpPr/>
          <p:nvPr/>
        </p:nvSpPr>
        <p:spPr>
          <a:xfrm>
            <a:off x="7599521" y="2167652"/>
            <a:ext cx="6244709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Пользователь </a:t>
            </a:r>
            <a:r>
              <a:rPr lang="en-US" sz="2200" b="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OpenStack </a:t>
            </a: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взаимодействует с облачными ресурсами через API и инструменты управления, не заботясь о деталях реализации на уровне гипервизора.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599521" y="4185761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Пользователь </a:t>
            </a:r>
            <a:r>
              <a:rPr lang="en-US" sz="2200" b="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OpenNebula </a:t>
            </a: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взаимодействует с виртуальными машинами и ресурсами через интерфейс OpenNebula.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99521" y="5750362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Пользователь </a:t>
            </a:r>
            <a:r>
              <a:rPr lang="en-US" sz="2200" b="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Libvirt</a:t>
            </a:r>
            <a:r>
              <a:rPr lang="en-US" sz="22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взаимодействует непосредственно с гипервизором через API Libvirt.</a:t>
            </a:r>
            <a:endParaRPr lang="en-US" sz="22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A47F38D5-FCF3-4438-812E-45D33B205CC7}"/>
              </a:ext>
            </a:extLst>
          </p:cNvPr>
          <p:cNvSpPr/>
          <p:nvPr/>
        </p:nvSpPr>
        <p:spPr>
          <a:xfrm>
            <a:off x="6609873" y="11209614"/>
            <a:ext cx="45719" cy="7520345"/>
          </a:xfrm>
          <a:prstGeom prst="roundRect">
            <a:avLst>
              <a:gd name="adj" fmla="val 313845"/>
            </a:avLst>
          </a:prstGeom>
          <a:solidFill>
            <a:srgbClr val="6D4562"/>
          </a:solidFill>
          <a:ln/>
        </p:spPr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C792DEF-3539-4D29-9CCC-23D5EFBE1442}"/>
              </a:ext>
            </a:extLst>
          </p:cNvPr>
          <p:cNvGrpSpPr/>
          <p:nvPr/>
        </p:nvGrpSpPr>
        <p:grpSpPr>
          <a:xfrm>
            <a:off x="6392348" y="10994439"/>
            <a:ext cx="1326713" cy="473273"/>
            <a:chOff x="6321267" y="2194738"/>
            <a:chExt cx="1326713" cy="473273"/>
          </a:xfrm>
        </p:grpSpPr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49EC8A5D-AB84-491E-85C6-B52DEE420C30}"/>
                </a:ext>
              </a:extLst>
            </p:cNvPr>
            <p:cNvSpPr/>
            <p:nvPr/>
          </p:nvSpPr>
          <p:spPr>
            <a:xfrm>
              <a:off x="6609874" y="2416134"/>
              <a:ext cx="1038106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</p:sp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178904EC-CE56-4B1B-BF3A-1E172E206484}"/>
                </a:ext>
              </a:extLst>
            </p:cNvPr>
            <p:cNvSpPr/>
            <p:nvPr/>
          </p:nvSpPr>
          <p:spPr>
            <a:xfrm>
              <a:off x="6321267" y="2194738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dirty="0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E793C66-E639-42D9-8844-F0E1EAF59BCE}"/>
              </a:ext>
            </a:extLst>
          </p:cNvPr>
          <p:cNvGrpSpPr/>
          <p:nvPr/>
        </p:nvGrpSpPr>
        <p:grpSpPr>
          <a:xfrm>
            <a:off x="6321268" y="17856696"/>
            <a:ext cx="1326712" cy="473273"/>
            <a:chOff x="6321267" y="5939016"/>
            <a:chExt cx="1326712" cy="473273"/>
          </a:xfrm>
        </p:grpSpPr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8DD52699-A84A-417B-973E-3C383549A32E}"/>
                </a:ext>
              </a:extLst>
            </p:cNvPr>
            <p:cNvSpPr/>
            <p:nvPr/>
          </p:nvSpPr>
          <p:spPr>
            <a:xfrm>
              <a:off x="6609874" y="6145172"/>
              <a:ext cx="1038105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1AB992CD-63DA-4678-B44F-E56E48EC583F}"/>
                </a:ext>
              </a:extLst>
            </p:cNvPr>
            <p:cNvSpPr/>
            <p:nvPr/>
          </p:nvSpPr>
          <p:spPr>
            <a:xfrm>
              <a:off x="6321267" y="5939016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3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BAE0DA85-94CF-40D2-B02E-4513C998A629}"/>
              </a:ext>
            </a:extLst>
          </p:cNvPr>
          <p:cNvGrpSpPr/>
          <p:nvPr/>
        </p:nvGrpSpPr>
        <p:grpSpPr>
          <a:xfrm>
            <a:off x="6321268" y="15839777"/>
            <a:ext cx="1326713" cy="473273"/>
            <a:chOff x="6321267" y="4044017"/>
            <a:chExt cx="1326713" cy="473273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3D56E206-4EC2-43E5-A3C9-49D3B9F3AE25}"/>
                </a:ext>
              </a:extLst>
            </p:cNvPr>
            <p:cNvSpPr/>
            <p:nvPr/>
          </p:nvSpPr>
          <p:spPr>
            <a:xfrm>
              <a:off x="6600362" y="4280653"/>
              <a:ext cx="1047618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62909D6A-CDD0-4BC3-B33E-E94179271ACD}"/>
                </a:ext>
              </a:extLst>
            </p:cNvPr>
            <p:cNvSpPr/>
            <p:nvPr/>
          </p:nvSpPr>
          <p:spPr>
            <a:xfrm>
              <a:off x="6321267" y="4044017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</a:p>
          </p:txBody>
        </p:sp>
      </p:grpSp>
      <p:sp>
        <p:nvSpPr>
          <p:cNvPr id="23" name="Text 4">
            <a:extLst>
              <a:ext uri="{FF2B5EF4-FFF2-40B4-BE49-F238E27FC236}">
                <a16:creationId xmlns:a16="http://schemas.microsoft.com/office/drawing/2014/main" id="{54B928E2-E3F5-4D53-ABC3-664225E7AEE9}"/>
              </a:ext>
            </a:extLst>
          </p:cNvPr>
          <p:cNvSpPr/>
          <p:nvPr/>
        </p:nvSpPr>
        <p:spPr>
          <a:xfrm>
            <a:off x="8076135" y="9410011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Для начала необходимо установить нужные библиотеки: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qemu-kvm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libvirt-daemon-system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libvirt-clients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 Для работы с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используются программа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manager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11987" y="701040"/>
            <a:ext cx="3896456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ru-RU" sz="6150" dirty="0">
                <a:solidFill>
                  <a:schemeClr val="bg1"/>
                </a:solidFill>
                <a:latin typeface="Montserrat" pitchFamily="34" charset="0"/>
              </a:rPr>
              <a:t>Настройка</a:t>
            </a:r>
            <a:r>
              <a:rPr lang="en-US" sz="3950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609873" y="4107774"/>
            <a:ext cx="45719" cy="7520345"/>
          </a:xfrm>
          <a:prstGeom prst="roundRect">
            <a:avLst>
              <a:gd name="adj" fmla="val 313845"/>
            </a:avLst>
          </a:prstGeom>
          <a:solidFill>
            <a:srgbClr val="6D4562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F545B22-6FDB-40F1-A3A4-3EF64723A4FE}"/>
              </a:ext>
            </a:extLst>
          </p:cNvPr>
          <p:cNvSpPr/>
          <p:nvPr/>
        </p:nvSpPr>
        <p:spPr>
          <a:xfrm>
            <a:off x="11117354" y="590835"/>
            <a:ext cx="3071087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>
              <a:solidFill>
                <a:schemeClr val="bg1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1C3E2D1-A0F1-4ED4-BE42-8D87CA1AFDE9}"/>
              </a:ext>
            </a:extLst>
          </p:cNvPr>
          <p:cNvGrpSpPr/>
          <p:nvPr/>
        </p:nvGrpSpPr>
        <p:grpSpPr>
          <a:xfrm>
            <a:off x="6392957" y="3882908"/>
            <a:ext cx="1326713" cy="473273"/>
            <a:chOff x="6321267" y="2194738"/>
            <a:chExt cx="1326713" cy="473273"/>
          </a:xfrm>
        </p:grpSpPr>
        <p:sp>
          <p:nvSpPr>
            <p:cNvPr id="5" name="Shape 2"/>
            <p:cNvSpPr/>
            <p:nvPr/>
          </p:nvSpPr>
          <p:spPr>
            <a:xfrm>
              <a:off x="6609874" y="2416134"/>
              <a:ext cx="1038106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A2C672B9-9480-4596-9869-91CFDF329460}"/>
                </a:ext>
              </a:extLst>
            </p:cNvPr>
            <p:cNvSpPr/>
            <p:nvPr/>
          </p:nvSpPr>
          <p:spPr>
            <a:xfrm>
              <a:off x="6321267" y="2194738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dirty="0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812EE7-22A4-4662-9A51-0CE8529CC092}"/>
              </a:ext>
            </a:extLst>
          </p:cNvPr>
          <p:cNvGrpSpPr/>
          <p:nvPr/>
        </p:nvGrpSpPr>
        <p:grpSpPr>
          <a:xfrm>
            <a:off x="6321268" y="10754856"/>
            <a:ext cx="1326712" cy="473273"/>
            <a:chOff x="6321267" y="5939016"/>
            <a:chExt cx="1326712" cy="473273"/>
          </a:xfrm>
        </p:grpSpPr>
        <p:sp>
          <p:nvSpPr>
            <p:cNvPr id="15" name="Shape 12"/>
            <p:cNvSpPr/>
            <p:nvPr/>
          </p:nvSpPr>
          <p:spPr>
            <a:xfrm>
              <a:off x="6609874" y="6145172"/>
              <a:ext cx="1038105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9FE13D03-0A83-468A-848F-4EF37A90925E}"/>
                </a:ext>
              </a:extLst>
            </p:cNvPr>
            <p:cNvSpPr/>
            <p:nvPr/>
          </p:nvSpPr>
          <p:spPr>
            <a:xfrm>
              <a:off x="6321267" y="5939016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3</a:t>
              </a: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5D0FEBD8-C7AC-42C6-9B97-FF7D7452CFA6}"/>
              </a:ext>
            </a:extLst>
          </p:cNvPr>
          <p:cNvGrpSpPr/>
          <p:nvPr/>
        </p:nvGrpSpPr>
        <p:grpSpPr>
          <a:xfrm>
            <a:off x="6390249" y="8737937"/>
            <a:ext cx="1326713" cy="473273"/>
            <a:chOff x="6321267" y="4044017"/>
            <a:chExt cx="1326713" cy="473273"/>
          </a:xfrm>
        </p:grpSpPr>
        <p:sp>
          <p:nvSpPr>
            <p:cNvPr id="10" name="Shape 7"/>
            <p:cNvSpPr/>
            <p:nvPr/>
          </p:nvSpPr>
          <p:spPr>
            <a:xfrm>
              <a:off x="6600362" y="4280653"/>
              <a:ext cx="1047618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</p:sp>
        <p:sp>
          <p:nvSpPr>
            <p:cNvPr id="23" name="Shape 9">
              <a:extLst>
                <a:ext uri="{FF2B5EF4-FFF2-40B4-BE49-F238E27FC236}">
                  <a16:creationId xmlns:a16="http://schemas.microsoft.com/office/drawing/2014/main" id="{3F9CB0EE-BA51-45E5-A9A1-D6F9F0EA5690}"/>
                </a:ext>
              </a:extLst>
            </p:cNvPr>
            <p:cNvSpPr/>
            <p:nvPr/>
          </p:nvSpPr>
          <p:spPr>
            <a:xfrm>
              <a:off x="6321267" y="4044017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</a:p>
          </p:txBody>
        </p:sp>
      </p:grp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1020107-5D8F-4831-9A97-DABB62D3C0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65" r="13769"/>
          <a:stretch/>
        </p:blipFill>
        <p:spPr>
          <a:xfrm>
            <a:off x="513173" y="701041"/>
            <a:ext cx="4861200" cy="376297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69BADE9-888D-4052-B145-908F5913E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497" y="3825989"/>
            <a:ext cx="4782492" cy="3240822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1382CC09-A274-4B13-957B-1A07CD71E46A}"/>
              </a:ext>
            </a:extLst>
          </p:cNvPr>
          <p:cNvSpPr/>
          <p:nvPr/>
        </p:nvSpPr>
        <p:spPr>
          <a:xfrm>
            <a:off x="8030040" y="2102013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Для начала необходимо установить нужные библиотеки: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qemu-kvm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libvirt-daemon-system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libvirt-clients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 Для работы с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используются программа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manager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6F45F586-5B7A-4A64-A569-BB242702373E}"/>
              </a:ext>
            </a:extLst>
          </p:cNvPr>
          <p:cNvSpPr/>
          <p:nvPr/>
        </p:nvSpPr>
        <p:spPr>
          <a:xfrm>
            <a:off x="7936586" y="6977027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Далее надо включить сеть и выбрать количество процессоров и объем памяти.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11987" y="701040"/>
            <a:ext cx="3896456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ru-RU" sz="6150" dirty="0">
                <a:solidFill>
                  <a:schemeClr val="bg1"/>
                </a:solidFill>
                <a:latin typeface="Montserrat" pitchFamily="34" charset="0"/>
              </a:rPr>
              <a:t>Настройка</a:t>
            </a:r>
            <a:r>
              <a:rPr lang="en-US" sz="3950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609873" y="2385654"/>
            <a:ext cx="45719" cy="7520345"/>
          </a:xfrm>
          <a:prstGeom prst="roundRect">
            <a:avLst>
              <a:gd name="adj" fmla="val 313845"/>
            </a:avLst>
          </a:prstGeom>
          <a:solidFill>
            <a:srgbClr val="6D4562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F545B22-6FDB-40F1-A3A4-3EF64723A4FE}"/>
              </a:ext>
            </a:extLst>
          </p:cNvPr>
          <p:cNvSpPr/>
          <p:nvPr/>
        </p:nvSpPr>
        <p:spPr>
          <a:xfrm>
            <a:off x="11117354" y="590835"/>
            <a:ext cx="3071087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>
              <a:solidFill>
                <a:schemeClr val="bg1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1C3E2D1-A0F1-4ED4-BE42-8D87CA1AFDE9}"/>
              </a:ext>
            </a:extLst>
          </p:cNvPr>
          <p:cNvGrpSpPr/>
          <p:nvPr/>
        </p:nvGrpSpPr>
        <p:grpSpPr>
          <a:xfrm>
            <a:off x="6404038" y="2156043"/>
            <a:ext cx="1326713" cy="473273"/>
            <a:chOff x="6321267" y="2194738"/>
            <a:chExt cx="1326713" cy="473273"/>
          </a:xfrm>
        </p:grpSpPr>
        <p:sp>
          <p:nvSpPr>
            <p:cNvPr id="5" name="Shape 2"/>
            <p:cNvSpPr/>
            <p:nvPr/>
          </p:nvSpPr>
          <p:spPr>
            <a:xfrm>
              <a:off x="6609874" y="2416134"/>
              <a:ext cx="1038106" cy="45719"/>
            </a:xfrm>
            <a:prstGeom prst="roundRect">
              <a:avLst>
                <a:gd name="adj" fmla="val 313845"/>
              </a:avLst>
            </a:prstGeom>
            <a:solidFill>
              <a:srgbClr val="6D4562">
                <a:alpha val="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A2C672B9-9480-4596-9869-91CFDF329460}"/>
                </a:ext>
              </a:extLst>
            </p:cNvPr>
            <p:cNvSpPr/>
            <p:nvPr/>
          </p:nvSpPr>
          <p:spPr>
            <a:xfrm>
              <a:off x="6321267" y="2194738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dirty="0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812EE7-22A4-4662-9A51-0CE8529CC092}"/>
              </a:ext>
            </a:extLst>
          </p:cNvPr>
          <p:cNvGrpSpPr/>
          <p:nvPr/>
        </p:nvGrpSpPr>
        <p:grpSpPr>
          <a:xfrm>
            <a:off x="6321268" y="10754856"/>
            <a:ext cx="1326712" cy="473273"/>
            <a:chOff x="6321267" y="5939016"/>
            <a:chExt cx="1326712" cy="473273"/>
          </a:xfrm>
        </p:grpSpPr>
        <p:sp>
          <p:nvSpPr>
            <p:cNvPr id="15" name="Shape 12"/>
            <p:cNvSpPr/>
            <p:nvPr/>
          </p:nvSpPr>
          <p:spPr>
            <a:xfrm>
              <a:off x="6609874" y="6145172"/>
              <a:ext cx="1038105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9FE13D03-0A83-468A-848F-4EF37A90925E}"/>
                </a:ext>
              </a:extLst>
            </p:cNvPr>
            <p:cNvSpPr/>
            <p:nvPr/>
          </p:nvSpPr>
          <p:spPr>
            <a:xfrm>
              <a:off x="6321267" y="5939016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3</a:t>
              </a:r>
            </a:p>
          </p:txBody>
        </p:sp>
      </p:grpSp>
      <p:sp>
        <p:nvSpPr>
          <p:cNvPr id="31" name="Text 4">
            <a:extLst>
              <a:ext uri="{FF2B5EF4-FFF2-40B4-BE49-F238E27FC236}">
                <a16:creationId xmlns:a16="http://schemas.microsoft.com/office/drawing/2014/main" id="{1382CC09-A274-4B13-957B-1A07CD71E46A}"/>
              </a:ext>
            </a:extLst>
          </p:cNvPr>
          <p:cNvSpPr/>
          <p:nvPr/>
        </p:nvSpPr>
        <p:spPr>
          <a:xfrm>
            <a:off x="15558600" y="2102013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Для начала необходимо установить нужные библиотеки: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qemu-kvm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libvirt-daemon-system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libvirt-clients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 Для работы с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libvirt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 используются программа </a:t>
            </a:r>
            <a:r>
              <a:rPr lang="ru-RU" sz="2400" dirty="0" err="1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virt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-</a:t>
            </a:r>
            <a:r>
              <a:rPr lang="en-US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manager</a:t>
            </a: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.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6E804C2-320D-4B86-A475-EFC6B39F1E17}"/>
              </a:ext>
            </a:extLst>
          </p:cNvPr>
          <p:cNvGrpSpPr/>
          <p:nvPr/>
        </p:nvGrpSpPr>
        <p:grpSpPr>
          <a:xfrm>
            <a:off x="6404038" y="3891617"/>
            <a:ext cx="1326713" cy="473273"/>
            <a:chOff x="6321267" y="4044017"/>
            <a:chExt cx="1326713" cy="473273"/>
          </a:xfrm>
        </p:grpSpPr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4FBE0C51-DA60-4279-BC4E-75E2B9AC96BF}"/>
                </a:ext>
              </a:extLst>
            </p:cNvPr>
            <p:cNvSpPr/>
            <p:nvPr/>
          </p:nvSpPr>
          <p:spPr>
            <a:xfrm>
              <a:off x="6600362" y="4280653"/>
              <a:ext cx="1047618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3C11BEAC-CE66-4E8E-88C2-1B4BF6DBBBAD}"/>
                </a:ext>
              </a:extLst>
            </p:cNvPr>
            <p:cNvSpPr/>
            <p:nvPr/>
          </p:nvSpPr>
          <p:spPr>
            <a:xfrm>
              <a:off x="6321267" y="4044017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</a:p>
          </p:txBody>
        </p:sp>
      </p:grpSp>
      <p:sp>
        <p:nvSpPr>
          <p:cNvPr id="26" name="Text 4">
            <a:extLst>
              <a:ext uri="{FF2B5EF4-FFF2-40B4-BE49-F238E27FC236}">
                <a16:creationId xmlns:a16="http://schemas.microsoft.com/office/drawing/2014/main" id="{A5225918-9987-4DC3-A021-B8BEBDD219E1}"/>
              </a:ext>
            </a:extLst>
          </p:cNvPr>
          <p:cNvSpPr/>
          <p:nvPr/>
        </p:nvSpPr>
        <p:spPr>
          <a:xfrm>
            <a:off x="7936586" y="2130707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Далее надо включить сеть и выбрать количество процессоров и объем памяти.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253D5CD-CDF3-40EA-AE67-41D06FEC57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58" y="4110112"/>
            <a:ext cx="4445133" cy="350603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07C6FD7-444E-489A-8215-4F059A7DDA9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57" y="540049"/>
            <a:ext cx="2803911" cy="2943932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B0B84E1-760A-4164-B58A-B28945288AE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422" y="540049"/>
            <a:ext cx="2794705" cy="2943932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0C3676A2-98A4-4DC5-9EDC-0EB68D82C8F8}"/>
              </a:ext>
            </a:extLst>
          </p:cNvPr>
          <p:cNvSpPr/>
          <p:nvPr/>
        </p:nvSpPr>
        <p:spPr>
          <a:xfrm>
            <a:off x="8211423" y="8963466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Установить Ubuntu, следуя шагам установщика.</a:t>
            </a:r>
          </a:p>
        </p:txBody>
      </p:sp>
    </p:spTree>
    <p:extLst>
      <p:ext uri="{BB962C8B-B14F-4D97-AF65-F5344CB8AC3E}">
        <p14:creationId xmlns:p14="http://schemas.microsoft.com/office/powerpoint/2010/main" val="1269001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11987" y="701040"/>
            <a:ext cx="3896456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4950"/>
              </a:lnSpc>
              <a:buNone/>
            </a:pPr>
            <a:r>
              <a:rPr lang="ru-RU" sz="6150" dirty="0">
                <a:solidFill>
                  <a:schemeClr val="bg1"/>
                </a:solidFill>
                <a:latin typeface="Montserrat" pitchFamily="34" charset="0"/>
              </a:rPr>
              <a:t>Настройка</a:t>
            </a:r>
            <a:r>
              <a:rPr lang="en-US" sz="3950" dirty="0">
                <a:solidFill>
                  <a:srgbClr val="C6BF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609873" y="2385654"/>
            <a:ext cx="45719" cy="7520345"/>
          </a:xfrm>
          <a:prstGeom prst="roundRect">
            <a:avLst>
              <a:gd name="adj" fmla="val 313845"/>
            </a:avLst>
          </a:prstGeom>
          <a:solidFill>
            <a:srgbClr val="6D4562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F545B22-6FDB-40F1-A3A4-3EF64723A4FE}"/>
              </a:ext>
            </a:extLst>
          </p:cNvPr>
          <p:cNvSpPr/>
          <p:nvPr/>
        </p:nvSpPr>
        <p:spPr>
          <a:xfrm>
            <a:off x="11117354" y="590835"/>
            <a:ext cx="3071087" cy="1325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Libvirt </a:t>
            </a:r>
            <a:endParaRPr lang="en-US" sz="6150" dirty="0">
              <a:solidFill>
                <a:schemeClr val="bg1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1C3E2D1-A0F1-4ED4-BE42-8D87CA1AFDE9}"/>
              </a:ext>
            </a:extLst>
          </p:cNvPr>
          <p:cNvGrpSpPr/>
          <p:nvPr/>
        </p:nvGrpSpPr>
        <p:grpSpPr>
          <a:xfrm>
            <a:off x="6394775" y="2156043"/>
            <a:ext cx="1326713" cy="473273"/>
            <a:chOff x="6321267" y="2194738"/>
            <a:chExt cx="1326713" cy="473273"/>
          </a:xfrm>
        </p:grpSpPr>
        <p:sp>
          <p:nvSpPr>
            <p:cNvPr id="5" name="Shape 2"/>
            <p:cNvSpPr/>
            <p:nvPr/>
          </p:nvSpPr>
          <p:spPr>
            <a:xfrm>
              <a:off x="6609874" y="2416134"/>
              <a:ext cx="1038106" cy="45719"/>
            </a:xfrm>
            <a:prstGeom prst="roundRect">
              <a:avLst>
                <a:gd name="adj" fmla="val 313845"/>
              </a:avLst>
            </a:prstGeom>
            <a:solidFill>
              <a:srgbClr val="6D4562">
                <a:alpha val="0"/>
              </a:srgbClr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A2C672B9-9480-4596-9869-91CFDF329460}"/>
                </a:ext>
              </a:extLst>
            </p:cNvPr>
            <p:cNvSpPr/>
            <p:nvPr/>
          </p:nvSpPr>
          <p:spPr>
            <a:xfrm>
              <a:off x="6321267" y="2194738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1</a:t>
              </a:r>
              <a:endParaRPr lang="ru-RU" dirty="0">
                <a:solidFill>
                  <a:schemeClr val="bg1"/>
                </a:solidFill>
                <a:latin typeface="Montserrat" panose="00000500000000000000" pitchFamily="2" charset="-52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812EE7-22A4-4662-9A51-0CE8529CC092}"/>
              </a:ext>
            </a:extLst>
          </p:cNvPr>
          <p:cNvGrpSpPr/>
          <p:nvPr/>
        </p:nvGrpSpPr>
        <p:grpSpPr>
          <a:xfrm>
            <a:off x="6394776" y="4586215"/>
            <a:ext cx="1326712" cy="473273"/>
            <a:chOff x="6321267" y="5939016"/>
            <a:chExt cx="1326712" cy="473273"/>
          </a:xfrm>
        </p:grpSpPr>
        <p:sp>
          <p:nvSpPr>
            <p:cNvPr id="15" name="Shape 12"/>
            <p:cNvSpPr/>
            <p:nvPr/>
          </p:nvSpPr>
          <p:spPr>
            <a:xfrm>
              <a:off x="6609874" y="6145172"/>
              <a:ext cx="1038105" cy="45719"/>
            </a:xfrm>
            <a:prstGeom prst="roundRect">
              <a:avLst>
                <a:gd name="adj" fmla="val 313845"/>
              </a:avLst>
            </a:prstGeom>
            <a:solidFill>
              <a:srgbClr val="6D4562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9FE13D03-0A83-468A-848F-4EF37A90925E}"/>
                </a:ext>
              </a:extLst>
            </p:cNvPr>
            <p:cNvSpPr/>
            <p:nvPr/>
          </p:nvSpPr>
          <p:spPr>
            <a:xfrm>
              <a:off x="6321267" y="5939016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3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6E804C2-320D-4B86-A475-EFC6B39F1E17}"/>
              </a:ext>
            </a:extLst>
          </p:cNvPr>
          <p:cNvGrpSpPr/>
          <p:nvPr/>
        </p:nvGrpSpPr>
        <p:grpSpPr>
          <a:xfrm>
            <a:off x="6394775" y="3241536"/>
            <a:ext cx="1326713" cy="473273"/>
            <a:chOff x="6321267" y="4044017"/>
            <a:chExt cx="1326713" cy="473273"/>
          </a:xfrm>
        </p:grpSpPr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4FBE0C51-DA60-4279-BC4E-75E2B9AC96BF}"/>
                </a:ext>
              </a:extLst>
            </p:cNvPr>
            <p:cNvSpPr/>
            <p:nvPr/>
          </p:nvSpPr>
          <p:spPr>
            <a:xfrm>
              <a:off x="6600362" y="4280653"/>
              <a:ext cx="1047618" cy="45719"/>
            </a:xfrm>
            <a:prstGeom prst="roundRect">
              <a:avLst>
                <a:gd name="adj" fmla="val 313845"/>
              </a:avLst>
            </a:prstGeom>
            <a:solidFill>
              <a:srgbClr val="6D4562">
                <a:alpha val="0"/>
              </a:srgbClr>
            </a:solidFill>
            <a:ln/>
          </p:spPr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3C11BEAC-CE66-4E8E-88C2-1B4BF6DBBBAD}"/>
                </a:ext>
              </a:extLst>
            </p:cNvPr>
            <p:cNvSpPr/>
            <p:nvPr/>
          </p:nvSpPr>
          <p:spPr>
            <a:xfrm>
              <a:off x="6321267" y="4044017"/>
              <a:ext cx="473273" cy="473273"/>
            </a:xfrm>
            <a:prstGeom prst="roundRect">
              <a:avLst>
                <a:gd name="adj" fmla="val 18670"/>
              </a:avLst>
            </a:prstGeom>
            <a:solidFill>
              <a:srgbClr val="542C49"/>
            </a:solidFill>
            <a:ln w="7620">
              <a:solidFill>
                <a:srgbClr val="6D4562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  <a:latin typeface="Montserrat" panose="00000500000000000000" pitchFamily="2" charset="-52"/>
                </a:rPr>
                <a:t>2</a:t>
              </a:r>
            </a:p>
          </p:txBody>
        </p:sp>
      </p:grpSp>
      <p:sp>
        <p:nvSpPr>
          <p:cNvPr id="26" name="Text 4">
            <a:extLst>
              <a:ext uri="{FF2B5EF4-FFF2-40B4-BE49-F238E27FC236}">
                <a16:creationId xmlns:a16="http://schemas.microsoft.com/office/drawing/2014/main" id="{A5225918-9987-4DC3-A021-B8BEBDD219E1}"/>
              </a:ext>
            </a:extLst>
          </p:cNvPr>
          <p:cNvSpPr/>
          <p:nvPr/>
        </p:nvSpPr>
        <p:spPr>
          <a:xfrm>
            <a:off x="17969912" y="2130707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</a:rPr>
              <a:t>Далее надо включить сеть и выбрать количество процессоров и объем памяти.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957EF25-9A36-49B4-BFA5-892FA99981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583" t="19444" r="15729" b="26305"/>
          <a:stretch/>
        </p:blipFill>
        <p:spPr>
          <a:xfrm>
            <a:off x="441959" y="648104"/>
            <a:ext cx="3621107" cy="38518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9D69B3-2085-46E4-89EB-224164C1D1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492" b="8517"/>
          <a:stretch/>
        </p:blipFill>
        <p:spPr>
          <a:xfrm>
            <a:off x="1443713" y="3116860"/>
            <a:ext cx="4729274" cy="4464636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D028F858-9462-4DCC-99D4-456149255583}"/>
              </a:ext>
            </a:extLst>
          </p:cNvPr>
          <p:cNvSpPr/>
          <p:nvPr/>
        </p:nvSpPr>
        <p:spPr>
          <a:xfrm>
            <a:off x="8177108" y="2794825"/>
            <a:ext cx="6011333" cy="408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20"/>
              </a:spcAft>
            </a:pPr>
            <a:r>
              <a:rPr lang="ru-RU" sz="2400" dirty="0">
                <a:solidFill>
                  <a:schemeClr val="bg1"/>
                </a:solidFill>
                <a:latin typeface="Montserrat" panose="00000500000000000000" pitchFamily="2" charset="-52"/>
              </a:rPr>
              <a:t>Установить Ubuntu, следуя шагам установщика.</a:t>
            </a:r>
          </a:p>
        </p:txBody>
      </p:sp>
    </p:spTree>
    <p:extLst>
      <p:ext uri="{BB962C8B-B14F-4D97-AF65-F5344CB8AC3E}">
        <p14:creationId xmlns:p14="http://schemas.microsoft.com/office/powerpoint/2010/main" val="1591210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C2C26A-76D0-433C-846A-D88E8A5C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2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0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2B6D20-ECBC-41B3-A07B-110F54489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25"/>
          <a:stretch/>
        </p:blipFill>
        <p:spPr>
          <a:xfrm>
            <a:off x="2438400" y="266700"/>
            <a:ext cx="9753600" cy="63550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EBF943-7791-4642-B4BD-E1AFC661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072" y="3624582"/>
            <a:ext cx="2743200" cy="410968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AC99090-51CE-46B9-833F-4D282AF64048}"/>
              </a:ext>
            </a:extLst>
          </p:cNvPr>
          <p:cNvSpPr/>
          <p:nvPr/>
        </p:nvSpPr>
        <p:spPr>
          <a:xfrm>
            <a:off x="1127760" y="5003772"/>
            <a:ext cx="13042821" cy="1351308"/>
          </a:xfrm>
          <a:prstGeom prst="rect">
            <a:avLst/>
          </a:prstGeom>
        </p:spPr>
        <p:txBody>
          <a:bodyPr wrap="none" lIns="0" tIns="0" rIns="0" bIns="0"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ru-RU" sz="5400" dirty="0">
                <a:solidFill>
                  <a:srgbClr val="F2F0F4"/>
                </a:solidFill>
                <a:latin typeface="Montserrat" pitchFamily="34" charset="0"/>
              </a:rPr>
              <a:t>Спасибо за внимание!</a:t>
            </a:r>
            <a:endParaRPr lang="en-US" sz="5400" dirty="0">
              <a:solidFill>
                <a:srgbClr val="F2F0F4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96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542</Words>
  <Application>Microsoft Office PowerPoint</Application>
  <PresentationFormat>Произвольный</PresentationFormat>
  <Paragraphs>90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Montserrat</vt:lpstr>
      <vt:lpstr>Prompt</vt:lpstr>
      <vt:lpstr>Arial</vt:lpstr>
      <vt:lpstr>Calibri</vt:lpstr>
      <vt:lpstr>Heebo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Василиса Черникова</cp:lastModifiedBy>
  <cp:revision>29</cp:revision>
  <dcterms:created xsi:type="dcterms:W3CDTF">2024-09-14T13:07:43Z</dcterms:created>
  <dcterms:modified xsi:type="dcterms:W3CDTF">2024-09-17T03:13:28Z</dcterms:modified>
</cp:coreProperties>
</file>