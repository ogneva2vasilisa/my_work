
<file path=[Content_Types].xml><?xml version="1.0" encoding="utf-8"?>
<Types xmlns="http://schemas.openxmlformats.org/package/2006/content-types">
  <Default Extension="emf" ContentType="image/x-emf"/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85" r:id="rId3"/>
    <p:sldId id="259" r:id="rId4"/>
    <p:sldId id="258" r:id="rId5"/>
    <p:sldId id="265" r:id="rId6"/>
    <p:sldId id="266" r:id="rId7"/>
    <p:sldId id="261" r:id="rId8"/>
    <p:sldId id="267" r:id="rId9"/>
    <p:sldId id="268" r:id="rId10"/>
    <p:sldId id="269" r:id="rId11"/>
    <p:sldId id="280" r:id="rId12"/>
    <p:sldId id="281" r:id="rId13"/>
    <p:sldId id="282" r:id="rId14"/>
    <p:sldId id="272" r:id="rId15"/>
    <p:sldId id="274" r:id="rId16"/>
    <p:sldId id="275" r:id="rId17"/>
    <p:sldId id="273" r:id="rId18"/>
    <p:sldId id="287" r:id="rId19"/>
    <p:sldId id="286" r:id="rId20"/>
    <p:sldId id="284" r:id="rId21"/>
    <p:sldId id="264" r:id="rId22"/>
    <p:sldId id="270" r:id="rId23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1721"/>
    <a:srgbClr val="0B747F"/>
    <a:srgbClr val="0C4A5F"/>
    <a:srgbClr val="0B988A"/>
    <a:srgbClr val="18B678"/>
    <a:srgbClr val="7BD849"/>
    <a:srgbClr val="112836"/>
    <a:srgbClr val="0C2B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59" autoAdjust="0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38" y="10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41" d="100"/>
          <a:sy n="41" d="100"/>
        </p:scale>
        <p:origin x="2630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A4E34B6-330A-4CD3-9DB1-E3DE2FAD70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AE0DC50-D696-4DEC-906C-87E3E62F5E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BF090-8B20-48F2-B271-3BFD554D3585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973609E-3728-4C86-991F-0739214A87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37665E5-3B35-4B8C-A0E3-371DAD3847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BC3EA-C9E7-4A22-8E0E-9538CA44AA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07467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776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11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25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709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46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2842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641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f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fif"/><Relationship Id="rId5" Type="http://schemas.openxmlformats.org/officeDocument/2006/relationships/image" Target="../media/image9.jfif"/><Relationship Id="rId4" Type="http://schemas.openxmlformats.org/officeDocument/2006/relationships/image" Target="../media/image8.jf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f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fif"/><Relationship Id="rId5" Type="http://schemas.openxmlformats.org/officeDocument/2006/relationships/image" Target="../media/image9.jfif"/><Relationship Id="rId4" Type="http://schemas.openxmlformats.org/officeDocument/2006/relationships/image" Target="../media/image8.jf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f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fif"/><Relationship Id="rId5" Type="http://schemas.openxmlformats.org/officeDocument/2006/relationships/image" Target="../media/image9.jfif"/><Relationship Id="rId4" Type="http://schemas.openxmlformats.org/officeDocument/2006/relationships/image" Target="../media/image8.jf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f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fif"/><Relationship Id="rId5" Type="http://schemas.openxmlformats.org/officeDocument/2006/relationships/image" Target="../media/image9.jfif"/><Relationship Id="rId4" Type="http://schemas.openxmlformats.org/officeDocument/2006/relationships/image" Target="../media/image8.jf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5216045" y="686540"/>
            <a:ext cx="8665535" cy="362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9442"/>
              </a:lnSpc>
              <a:buNone/>
            </a:pPr>
            <a:r>
              <a:rPr lang="en-US" sz="7553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Карьерный таро-бот «Пентаклевая Восьмерка»</a:t>
            </a:r>
            <a:endParaRPr lang="en-US" sz="7553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7AC1CDC-15C4-4673-AB76-EE1BA85033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78" r="2251"/>
          <a:stretch/>
        </p:blipFill>
        <p:spPr>
          <a:xfrm>
            <a:off x="0" y="0"/>
            <a:ext cx="4699321" cy="8229600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2B47314F-22F3-482A-B1EB-8D285FC05C69}"/>
              </a:ext>
            </a:extLst>
          </p:cNvPr>
          <p:cNvSpPr/>
          <p:nvPr/>
        </p:nvSpPr>
        <p:spPr>
          <a:xfrm>
            <a:off x="5216045" y="6157234"/>
            <a:ext cx="6951345" cy="8687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4400" dirty="0" err="1">
                <a:solidFill>
                  <a:srgbClr val="FFFFFF"/>
                </a:solidFill>
                <a:latin typeface="Unbounded ExtraLight" pitchFamily="2" charset="-52"/>
                <a:ea typeface="Unbounded" pitchFamily="34" charset="-122"/>
                <a:cs typeface="Unbounded" pitchFamily="34" charset="-120"/>
              </a:rPr>
              <a:t>Команда</a:t>
            </a:r>
            <a:r>
              <a:rPr lang="ru-RU" sz="4400" dirty="0">
                <a:solidFill>
                  <a:srgbClr val="FFFFFF"/>
                </a:solidFill>
                <a:latin typeface="Unbounded ExtraLight" pitchFamily="2" charset="-52"/>
                <a:ea typeface="Unbounded" pitchFamily="34" charset="-122"/>
                <a:cs typeface="Unbounded" pitchFamily="34" charset="-120"/>
              </a:rPr>
              <a:t> «Подграфы»</a:t>
            </a:r>
            <a:endParaRPr lang="en-US" sz="4400" dirty="0">
              <a:latin typeface="Unbounded ExtraLight" pitchFamily="2" charset="-5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59860" y="721883"/>
            <a:ext cx="6951345" cy="8687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5474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Команда</a:t>
            </a:r>
            <a:endParaRPr lang="en-US" sz="5474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860" y="2070197"/>
            <a:ext cx="2627471" cy="3378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71583" y="5761134"/>
            <a:ext cx="262747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421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Волгарев Платон 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1494355" y="6872655"/>
            <a:ext cx="1981925" cy="889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89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Руководитель проекта</a:t>
            </a:r>
            <a:endParaRPr lang="en-US" sz="2189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370" y="2070197"/>
            <a:ext cx="2627471" cy="33781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485093" y="5761134"/>
            <a:ext cx="262747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421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Павлов Илья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4763692" y="6872654"/>
            <a:ext cx="2079830" cy="889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89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Программист, разработчик</a:t>
            </a:r>
            <a:endParaRPr lang="en-US" sz="2189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879" y="2070197"/>
            <a:ext cx="2627471" cy="33781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98602" y="5761134"/>
            <a:ext cx="262747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421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Корсаков Владимир</a:t>
            </a:r>
            <a:endParaRPr lang="en-US" sz="2400" dirty="0"/>
          </a:p>
        </p:txBody>
      </p:sp>
      <p:sp>
        <p:nvSpPr>
          <p:cNvPr id="13" name="Text 7"/>
          <p:cNvSpPr/>
          <p:nvPr/>
        </p:nvSpPr>
        <p:spPr>
          <a:xfrm>
            <a:off x="8060698" y="6872656"/>
            <a:ext cx="2079831" cy="889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89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Программист, разработчик</a:t>
            </a:r>
            <a:endParaRPr lang="en-US" sz="2189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388" y="2070197"/>
            <a:ext cx="2627471" cy="3378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112111" y="5761134"/>
            <a:ext cx="262747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421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Желудкевич Роман</a:t>
            </a:r>
            <a:endParaRPr lang="en-US" sz="2400" dirty="0"/>
          </a:p>
        </p:txBody>
      </p:sp>
      <p:sp>
        <p:nvSpPr>
          <p:cNvPr id="16" name="Text 9"/>
          <p:cNvSpPr/>
          <p:nvPr/>
        </p:nvSpPr>
        <p:spPr>
          <a:xfrm>
            <a:off x="11385930" y="6872656"/>
            <a:ext cx="2079831" cy="889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89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Программист, разработчик</a:t>
            </a:r>
            <a:endParaRPr lang="en-US" sz="2189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Wor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861" y="2070196"/>
            <a:ext cx="2627471" cy="3378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8554" y="5761133"/>
            <a:ext cx="3387969" cy="1303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421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Семиножникова Вероника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908149" y="6895147"/>
            <a:ext cx="3048778" cy="1334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89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Аналитик, технический писатель</a:t>
            </a:r>
            <a:endParaRPr lang="en-US" sz="2189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371" y="2070196"/>
            <a:ext cx="2627471" cy="33781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473371" y="5761133"/>
            <a:ext cx="26274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421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Черникова Василиса 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4473369" y="6892583"/>
            <a:ext cx="2627471" cy="44481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r>
              <a:rPr lang="en-US" sz="2189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Контент-мейкер</a:t>
            </a:r>
            <a:endParaRPr lang="en-US" sz="2189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880" y="2070196"/>
            <a:ext cx="2627471" cy="33781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23508" y="5761133"/>
            <a:ext cx="295421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421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Аргандейкина Софья</a:t>
            </a:r>
            <a:endParaRPr lang="en-US" sz="2400" dirty="0"/>
          </a:p>
        </p:txBody>
      </p:sp>
      <p:sp>
        <p:nvSpPr>
          <p:cNvPr id="13" name="Text 7"/>
          <p:cNvSpPr/>
          <p:nvPr/>
        </p:nvSpPr>
        <p:spPr>
          <a:xfrm>
            <a:off x="8304824" y="6914052"/>
            <a:ext cx="1591582" cy="889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89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Аналитик, работник</a:t>
            </a:r>
            <a:endParaRPr lang="en-US" sz="2189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389" y="2070196"/>
            <a:ext cx="2627471" cy="3378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100389" y="5761133"/>
            <a:ext cx="262747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421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Ярошевич Милан</a:t>
            </a:r>
            <a:endParaRPr lang="en-US" sz="2400" dirty="0"/>
          </a:p>
        </p:txBody>
      </p:sp>
      <p:sp>
        <p:nvSpPr>
          <p:cNvPr id="16" name="Text 9"/>
          <p:cNvSpPr/>
          <p:nvPr/>
        </p:nvSpPr>
        <p:spPr>
          <a:xfrm>
            <a:off x="11516626" y="6892584"/>
            <a:ext cx="1794996" cy="889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89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Мотиватор, работник</a:t>
            </a:r>
            <a:endParaRPr lang="en-US" sz="2189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CDDC39A3-8FE7-4A2E-A33F-D827DA489F92}"/>
              </a:ext>
            </a:extLst>
          </p:cNvPr>
          <p:cNvSpPr/>
          <p:nvPr/>
        </p:nvSpPr>
        <p:spPr>
          <a:xfrm>
            <a:off x="1159860" y="721883"/>
            <a:ext cx="6951345" cy="8687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5474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Команда</a:t>
            </a:r>
            <a:endParaRPr lang="en-US" sz="5474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1042630" y="2582227"/>
            <a:ext cx="6951345" cy="8687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5474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Идея проекта</a:t>
            </a:r>
            <a:endParaRPr lang="en-US" sz="5474" dirty="0"/>
          </a:p>
        </p:txBody>
      </p:sp>
      <p:sp>
        <p:nvSpPr>
          <p:cNvPr id="7" name="Text 3"/>
          <p:cNvSpPr/>
          <p:nvPr/>
        </p:nvSpPr>
        <p:spPr>
          <a:xfrm>
            <a:off x="1042630" y="3868103"/>
            <a:ext cx="12545139" cy="17792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503"/>
              </a:lnSpc>
              <a:buNone/>
            </a:pPr>
            <a:r>
              <a:rPr lang="en-US" sz="2189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У студентов часто нет времени на построение своего карьерного пути, а также просто не остается мотивации на это после учёбы. Поэтому, следуя тенденциям, мы решили упростить процесс вовлечения студентов в тему начинания карьеры с помощью телеграмм-бота, так как студенты много времени проводят с телефоном.</a:t>
            </a:r>
            <a:endParaRPr lang="en-US" sz="2189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">
            <a:extLst>
              <a:ext uri="{FF2B5EF4-FFF2-40B4-BE49-F238E27FC236}">
                <a16:creationId xmlns:a16="http://schemas.microsoft.com/office/drawing/2014/main" id="{0FCA5511-0958-4443-A0D9-73D51FADB2E5}"/>
              </a:ext>
            </a:extLst>
          </p:cNvPr>
          <p:cNvSpPr/>
          <p:nvPr/>
        </p:nvSpPr>
        <p:spPr>
          <a:xfrm>
            <a:off x="363855" y="613226"/>
            <a:ext cx="16847699" cy="8687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3600" dirty="0" err="1">
                <a:solidFill>
                  <a:srgbClr val="FFFFFF"/>
                </a:solidFill>
                <a:latin typeface="Unbounded" pitchFamily="2" charset="-52"/>
                <a:ea typeface="Unbounded" pitchFamily="34" charset="-122"/>
                <a:cs typeface="Unbounded" pitchFamily="34" charset="-120"/>
              </a:rPr>
              <a:t>Цель</a:t>
            </a:r>
            <a:r>
              <a:rPr lang="en-US" sz="3600" dirty="0">
                <a:solidFill>
                  <a:srgbClr val="FFFFFF"/>
                </a:solidFill>
                <a:latin typeface="Unbounded" pitchFamily="2" charset="-52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Unbounded" pitchFamily="2" charset="-52"/>
                <a:ea typeface="Unbounded" pitchFamily="34" charset="-122"/>
                <a:cs typeface="Unbounded" pitchFamily="34" charset="-120"/>
              </a:rPr>
              <a:t>проекта</a:t>
            </a:r>
            <a:r>
              <a:rPr lang="ru-RU" sz="3600" dirty="0">
                <a:solidFill>
                  <a:srgbClr val="FFFFFF"/>
                </a:solidFill>
                <a:latin typeface="Unbounded" pitchFamily="2" charset="-52"/>
                <a:ea typeface="Unbounded" pitchFamily="34" charset="-122"/>
                <a:cs typeface="Unbounded" pitchFamily="34" charset="-120"/>
              </a:rPr>
              <a:t>                                                                                      Решение проекта</a:t>
            </a:r>
            <a:endParaRPr lang="en-US" sz="3600" dirty="0">
              <a:latin typeface="Unbounded" pitchFamily="2" charset="-52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B087857E-4C9D-482D-AC0F-4E6952F312E3}"/>
              </a:ext>
            </a:extLst>
          </p:cNvPr>
          <p:cNvSpPr/>
          <p:nvPr/>
        </p:nvSpPr>
        <p:spPr>
          <a:xfrm>
            <a:off x="223284" y="2761197"/>
            <a:ext cx="5326912" cy="40191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421"/>
              </a:lnSpc>
              <a:buNone/>
            </a:pPr>
            <a:endParaRPr lang="en-US" sz="2737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556BC81-92AD-4D72-8C58-4E7E096E3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191985">
            <a:off x="5074035" y="2611283"/>
            <a:ext cx="4161984" cy="259214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7E72E19-C2D8-40EF-AC87-30DC0C9E35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52" t="7452" r="7452" b="7452"/>
          <a:stretch/>
        </p:blipFill>
        <p:spPr>
          <a:xfrm>
            <a:off x="3224474" y="571262"/>
            <a:ext cx="7470534" cy="7519441"/>
          </a:xfrm>
          <a:prstGeom prst="ellipse">
            <a:avLst/>
          </a:prstGeom>
        </p:spPr>
      </p:pic>
      <p:sp>
        <p:nvSpPr>
          <p:cNvPr id="12" name="Овал 11">
            <a:extLst>
              <a:ext uri="{FF2B5EF4-FFF2-40B4-BE49-F238E27FC236}">
                <a16:creationId xmlns:a16="http://schemas.microsoft.com/office/drawing/2014/main" id="{81A80772-6FB4-4B39-93CF-D91FFB3943EA}"/>
              </a:ext>
            </a:extLst>
          </p:cNvPr>
          <p:cNvSpPr/>
          <p:nvPr/>
        </p:nvSpPr>
        <p:spPr>
          <a:xfrm>
            <a:off x="4482044" y="1763974"/>
            <a:ext cx="5041277" cy="5041277"/>
          </a:xfrm>
          <a:prstGeom prst="ellipse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ts val="34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Заинтересовать 10% студентов</a:t>
            </a:r>
            <a:r>
              <a:rPr kumimoji="0" lang="en-US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kumimoji="0" lang="ru-RU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СПБПУ</a:t>
            </a:r>
            <a:r>
              <a:rPr kumimoji="0" lang="en-US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kumimoji="0" lang="ru-RU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с институтов ИКНК, </a:t>
            </a:r>
            <a:r>
              <a:rPr kumimoji="0" lang="ru-RU" sz="2200" i="0" u="none" strike="noStrike" kern="1200" cap="none" normalizeH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ФизМех</a:t>
            </a:r>
            <a:r>
              <a:rPr kumimoji="0" lang="ru-RU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, ИЭ,</a:t>
            </a:r>
            <a:r>
              <a:rPr kumimoji="0" lang="en-US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kumimoji="0" lang="ru-RU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ИММИТ начать строить карьерный путь</a:t>
            </a:r>
            <a:r>
              <a:rPr kumimoji="0" lang="en-US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kumimoji="0" lang="ru-RU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в течение 3 месяцев с помощью таро</a:t>
            </a:r>
            <a:r>
              <a:rPr kumimoji="0" lang="en-US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-</a:t>
            </a:r>
            <a:r>
              <a:rPr kumimoji="0" lang="ru-RU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бота в интерактивной форме, так</a:t>
            </a:r>
            <a:r>
              <a:rPr kumimoji="0" lang="en-US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kumimoji="0" lang="ru-RU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как во</a:t>
            </a:r>
            <a:r>
              <a:rPr kumimoji="0" lang="en-US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kumimoji="0" lang="ru-RU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время учебы в университете молодые</a:t>
            </a:r>
            <a:r>
              <a:rPr kumimoji="0" lang="en-US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kumimoji="0" lang="ru-RU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люди мало заинтересованы в развитии</a:t>
            </a:r>
            <a:r>
              <a:rPr kumimoji="0" lang="en-US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kumimoji="0" lang="ru-RU" sz="2200" i="0" u="none" strike="noStrike" kern="1200" cap="none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nschrift Condensed" panose="020B0502040204020203" pitchFamily="34" charset="0"/>
                <a:ea typeface="Unbounded" pitchFamily="34" charset="-122"/>
                <a:cs typeface="Unbounded" pitchFamily="34" charset="-120"/>
              </a:rPr>
              <a:t>своей карьеры.</a:t>
            </a:r>
          </a:p>
        </p:txBody>
      </p:sp>
    </p:spTree>
    <p:extLst>
      <p:ext uri="{BB962C8B-B14F-4D97-AF65-F5344CB8AC3E}">
        <p14:creationId xmlns:p14="http://schemas.microsoft.com/office/powerpoint/2010/main" val="11931743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">
            <a:extLst>
              <a:ext uri="{FF2B5EF4-FFF2-40B4-BE49-F238E27FC236}">
                <a16:creationId xmlns:a16="http://schemas.microsoft.com/office/drawing/2014/main" id="{0FCA5511-0958-4443-A0D9-73D51FADB2E5}"/>
              </a:ext>
            </a:extLst>
          </p:cNvPr>
          <p:cNvSpPr/>
          <p:nvPr/>
        </p:nvSpPr>
        <p:spPr>
          <a:xfrm>
            <a:off x="-5441773" y="613226"/>
            <a:ext cx="16847699" cy="8687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3600" dirty="0" err="1">
                <a:solidFill>
                  <a:srgbClr val="FFFFFF"/>
                </a:solidFill>
                <a:latin typeface="Unbounded" pitchFamily="2" charset="-52"/>
                <a:ea typeface="Unbounded" pitchFamily="34" charset="-122"/>
                <a:cs typeface="Unbounded" pitchFamily="34" charset="-120"/>
              </a:rPr>
              <a:t>Цель</a:t>
            </a:r>
            <a:r>
              <a:rPr lang="en-US" sz="3600" dirty="0">
                <a:solidFill>
                  <a:srgbClr val="FFFFFF"/>
                </a:solidFill>
                <a:latin typeface="Unbounded" pitchFamily="2" charset="-52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Unbounded" pitchFamily="2" charset="-52"/>
                <a:ea typeface="Unbounded" pitchFamily="34" charset="-122"/>
                <a:cs typeface="Unbounded" pitchFamily="34" charset="-120"/>
              </a:rPr>
              <a:t>проекта</a:t>
            </a:r>
            <a:r>
              <a:rPr lang="ru-RU" sz="3600" dirty="0">
                <a:solidFill>
                  <a:srgbClr val="FFFFFF"/>
                </a:solidFill>
                <a:latin typeface="Unbounded" pitchFamily="2" charset="-52"/>
                <a:ea typeface="Unbounded" pitchFamily="34" charset="-122"/>
                <a:cs typeface="Unbounded" pitchFamily="34" charset="-120"/>
              </a:rPr>
              <a:t>                                                                                      Решение проекта</a:t>
            </a:r>
            <a:endParaRPr lang="en-US" sz="3600" dirty="0">
              <a:latin typeface="Unbounded" pitchFamily="2" charset="-52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B087857E-4C9D-482D-AC0F-4E6952F312E3}"/>
              </a:ext>
            </a:extLst>
          </p:cNvPr>
          <p:cNvSpPr/>
          <p:nvPr/>
        </p:nvSpPr>
        <p:spPr>
          <a:xfrm>
            <a:off x="223284" y="2761197"/>
            <a:ext cx="5326912" cy="40191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421"/>
              </a:lnSpc>
              <a:buNone/>
            </a:pPr>
            <a:endParaRPr lang="en-US" sz="2737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7E72E19-C2D8-40EF-AC87-30DC0C9E35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0"/>
          </a:blip>
          <a:srcRect l="7452" t="7452" r="7452" b="7452"/>
          <a:stretch/>
        </p:blipFill>
        <p:spPr>
          <a:xfrm rot="10409260">
            <a:off x="6556905" y="3458710"/>
            <a:ext cx="1216424" cy="1224387"/>
          </a:xfrm>
          <a:prstGeom prst="ellipse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3CE2BB3-0968-4D00-B093-160938233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38077">
            <a:off x="73789" y="2021375"/>
            <a:ext cx="8448052" cy="52615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6820746-6B97-4EED-923E-C0C0673B39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961" t="18929" r="29506" b="17581"/>
          <a:stretch/>
        </p:blipFill>
        <p:spPr>
          <a:xfrm>
            <a:off x="10578312" y="3030591"/>
            <a:ext cx="2569674" cy="2508042"/>
          </a:xfrm>
          <a:prstGeom prst="rect">
            <a:avLst/>
          </a:prstGeom>
        </p:spPr>
      </p:pic>
      <p:sp>
        <p:nvSpPr>
          <p:cNvPr id="12" name="Овал 11">
            <a:extLst>
              <a:ext uri="{FF2B5EF4-FFF2-40B4-BE49-F238E27FC236}">
                <a16:creationId xmlns:a16="http://schemas.microsoft.com/office/drawing/2014/main" id="{81A80772-6FB4-4B39-93CF-D91FFB3943EA}"/>
              </a:ext>
            </a:extLst>
          </p:cNvPr>
          <p:cNvSpPr/>
          <p:nvPr/>
        </p:nvSpPr>
        <p:spPr>
          <a:xfrm>
            <a:off x="4482044" y="1763974"/>
            <a:ext cx="5041277" cy="5041277"/>
          </a:xfrm>
          <a:prstGeom prst="ellipse">
            <a:avLst/>
          </a:prstGeom>
          <a:solidFill>
            <a:srgbClr val="112836"/>
          </a:solidFill>
          <a:ln w="44450">
            <a:solidFill>
              <a:srgbClr val="7BD849"/>
            </a:solidFill>
          </a:ln>
          <a:effectLst>
            <a:outerShdw blurRad="254000" dist="215900" dir="954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Проект будет реализован в виде современного и удобного бота в телеграмме с интерактивном форматом(таро раскладкой) , что позволит повысить заинтересованность и привлечь внимание большего числа студентов к актуальной теме.</a:t>
            </a:r>
          </a:p>
        </p:txBody>
      </p:sp>
    </p:spTree>
    <p:extLst>
      <p:ext uri="{BB962C8B-B14F-4D97-AF65-F5344CB8AC3E}">
        <p14:creationId xmlns:p14="http://schemas.microsoft.com/office/powerpoint/2010/main" val="3791555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87722" y="613226"/>
            <a:ext cx="8975765" cy="8687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Реализация проекта</a:t>
            </a:r>
            <a:endParaRPr lang="en-US" sz="40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71ED361-F897-4903-8397-7F35966C7E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t="4343"/>
          <a:stretch/>
        </p:blipFill>
        <p:spPr>
          <a:xfrm>
            <a:off x="7459789" y="1932166"/>
            <a:ext cx="2678962" cy="569467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6C2EFB3-DD0A-4A2F-8241-F4AFD76583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5000"/>
          </a:blip>
          <a:srcRect t="3670"/>
          <a:stretch/>
        </p:blipFill>
        <p:spPr>
          <a:xfrm>
            <a:off x="10864916" y="1932166"/>
            <a:ext cx="2660239" cy="56946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29771F1-6C03-450C-8A45-0304CC0BD8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35000"/>
          </a:blip>
          <a:srcRect t="4343"/>
          <a:stretch/>
        </p:blipFill>
        <p:spPr>
          <a:xfrm>
            <a:off x="4054662" y="1932166"/>
            <a:ext cx="2678962" cy="569467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D81D22C-91FA-4E3F-B145-37DB5934573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559"/>
          <a:stretch/>
        </p:blipFill>
        <p:spPr>
          <a:xfrm>
            <a:off x="671324" y="1932166"/>
            <a:ext cx="2657173" cy="5694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87722" y="613226"/>
            <a:ext cx="8975765" cy="8687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Реализация проекта</a:t>
            </a:r>
            <a:endParaRPr lang="en-US" sz="5474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71ED361-F897-4903-8397-7F35966C7E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t="4343"/>
          <a:stretch/>
        </p:blipFill>
        <p:spPr>
          <a:xfrm>
            <a:off x="7459789" y="1932166"/>
            <a:ext cx="2678962" cy="569467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6C2EFB3-DD0A-4A2F-8241-F4AFD76583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5000"/>
          </a:blip>
          <a:srcRect t="3670"/>
          <a:stretch/>
        </p:blipFill>
        <p:spPr>
          <a:xfrm>
            <a:off x="10864916" y="1932166"/>
            <a:ext cx="2660239" cy="56946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29771F1-6C03-450C-8A45-0304CC0BD82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343"/>
          <a:stretch/>
        </p:blipFill>
        <p:spPr>
          <a:xfrm>
            <a:off x="4054662" y="1932166"/>
            <a:ext cx="2678962" cy="569467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D81D22C-91FA-4E3F-B145-37DB5934573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559"/>
          <a:stretch/>
        </p:blipFill>
        <p:spPr>
          <a:xfrm>
            <a:off x="671324" y="1932166"/>
            <a:ext cx="2657173" cy="569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6924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87722" y="613226"/>
            <a:ext cx="8975765" cy="8687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Реализация проекта</a:t>
            </a:r>
            <a:endParaRPr lang="en-US" sz="40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71ED361-F897-4903-8397-7F35966C7E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43"/>
          <a:stretch/>
        </p:blipFill>
        <p:spPr>
          <a:xfrm>
            <a:off x="7459789" y="1932166"/>
            <a:ext cx="2678962" cy="569467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6C2EFB3-DD0A-4A2F-8241-F4AFD76583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5000"/>
          </a:blip>
          <a:srcRect t="3670"/>
          <a:stretch/>
        </p:blipFill>
        <p:spPr>
          <a:xfrm>
            <a:off x="10864916" y="1932166"/>
            <a:ext cx="2660239" cy="56946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29771F1-6C03-450C-8A45-0304CC0BD82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343"/>
          <a:stretch/>
        </p:blipFill>
        <p:spPr>
          <a:xfrm>
            <a:off x="4054662" y="1932166"/>
            <a:ext cx="2678962" cy="569467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D81D22C-91FA-4E3F-B145-37DB5934573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559"/>
          <a:stretch/>
        </p:blipFill>
        <p:spPr>
          <a:xfrm>
            <a:off x="671324" y="1932166"/>
            <a:ext cx="2657173" cy="569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15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87722" y="613226"/>
            <a:ext cx="8975765" cy="8687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Реализация проекта</a:t>
            </a:r>
            <a:endParaRPr lang="en-US" sz="40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71ED361-F897-4903-8397-7F35966C7E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43"/>
          <a:stretch/>
        </p:blipFill>
        <p:spPr>
          <a:xfrm>
            <a:off x="7459789" y="1932166"/>
            <a:ext cx="2678962" cy="569467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6C2EFB3-DD0A-4A2F-8241-F4AFD76583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670"/>
          <a:stretch/>
        </p:blipFill>
        <p:spPr>
          <a:xfrm>
            <a:off x="10864916" y="1932166"/>
            <a:ext cx="2660239" cy="56946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29771F1-6C03-450C-8A45-0304CC0BD82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343"/>
          <a:stretch/>
        </p:blipFill>
        <p:spPr>
          <a:xfrm>
            <a:off x="4054662" y="1932166"/>
            <a:ext cx="2678962" cy="569467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D81D22C-91FA-4E3F-B145-37DB5934573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559"/>
          <a:stretch/>
        </p:blipFill>
        <p:spPr>
          <a:xfrm>
            <a:off x="671324" y="1932166"/>
            <a:ext cx="2657173" cy="569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49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3C1BB4FE-500E-4162-8D1C-3D9853ABEA4F}"/>
              </a:ext>
            </a:extLst>
          </p:cNvPr>
          <p:cNvGrpSpPr/>
          <p:nvPr/>
        </p:nvGrpSpPr>
        <p:grpSpPr>
          <a:xfrm>
            <a:off x="2773767" y="2156836"/>
            <a:ext cx="36835834" cy="5270760"/>
            <a:chOff x="-11071860" y="2255659"/>
            <a:chExt cx="36835834" cy="5270760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7FBE80E3-1A27-471D-AA9E-5FE37DA42C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141"/>
            <a:stretch/>
          </p:blipFill>
          <p:spPr>
            <a:xfrm>
              <a:off x="-11071860" y="2255659"/>
              <a:ext cx="14630400" cy="5270760"/>
            </a:xfrm>
            <a:prstGeom prst="rect">
              <a:avLst/>
            </a:prstGeom>
          </p:spPr>
        </p:pic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F1A965E2-B20F-42B8-9E52-AB8F23829C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491" b="9303"/>
            <a:stretch/>
          </p:blipFill>
          <p:spPr>
            <a:xfrm>
              <a:off x="1778040" y="2301379"/>
              <a:ext cx="14630400" cy="5162810"/>
            </a:xfrm>
            <a:prstGeom prst="rect">
              <a:avLst/>
            </a:prstGeom>
          </p:spPr>
        </p:pic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0684D2C1-A880-4B94-BC6D-EB1BC39817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/>
            </a:blip>
            <a:srcRect t="1931"/>
            <a:stretch/>
          </p:blipFill>
          <p:spPr>
            <a:xfrm>
              <a:off x="16407661" y="2299419"/>
              <a:ext cx="9356313" cy="5162810"/>
            </a:xfrm>
            <a:prstGeom prst="rect">
              <a:avLst/>
            </a:prstGeom>
          </p:spPr>
        </p:pic>
      </p:grpSp>
      <p:sp>
        <p:nvSpPr>
          <p:cNvPr id="27" name="Овал 26">
            <a:extLst>
              <a:ext uri="{FF2B5EF4-FFF2-40B4-BE49-F238E27FC236}">
                <a16:creationId xmlns:a16="http://schemas.microsoft.com/office/drawing/2014/main" id="{519FBDB0-380F-4856-B946-97CD5180B75B}"/>
              </a:ext>
            </a:extLst>
          </p:cNvPr>
          <p:cNvSpPr/>
          <p:nvPr/>
        </p:nvSpPr>
        <p:spPr>
          <a:xfrm rot="16906392">
            <a:off x="-1994512" y="-2181110"/>
            <a:ext cx="5421531" cy="5421531"/>
          </a:xfrm>
          <a:prstGeom prst="ellipse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5E8ADC90-EF4D-44C2-8692-3EE780FEBDF1}"/>
              </a:ext>
            </a:extLst>
          </p:cNvPr>
          <p:cNvGrpSpPr/>
          <p:nvPr/>
        </p:nvGrpSpPr>
        <p:grpSpPr>
          <a:xfrm rot="4685677">
            <a:off x="-1951200" y="-2058381"/>
            <a:ext cx="5256521" cy="5142485"/>
            <a:chOff x="-1951200" y="-2070413"/>
            <a:chExt cx="5256521" cy="5142485"/>
          </a:xfrm>
        </p:grpSpPr>
        <p:sp>
          <p:nvSpPr>
            <p:cNvPr id="29" name="Дуга 28">
              <a:extLst>
                <a:ext uri="{FF2B5EF4-FFF2-40B4-BE49-F238E27FC236}">
                  <a16:creationId xmlns:a16="http://schemas.microsoft.com/office/drawing/2014/main" id="{7F587C25-40BE-4425-9277-DEBFF006791D}"/>
                </a:ext>
              </a:extLst>
            </p:cNvPr>
            <p:cNvSpPr/>
            <p:nvPr/>
          </p:nvSpPr>
          <p:spPr>
            <a:xfrm rot="1596057">
              <a:off x="-1951200" y="-2070413"/>
              <a:ext cx="5256521" cy="5142485"/>
            </a:xfrm>
            <a:prstGeom prst="arc">
              <a:avLst>
                <a:gd name="adj1" fmla="val 14500225"/>
                <a:gd name="adj2" fmla="val 11810971"/>
              </a:avLst>
            </a:prstGeom>
            <a:ln w="276225">
              <a:solidFill>
                <a:srgbClr val="7BD8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3" name="Дуга 32">
              <a:extLst>
                <a:ext uri="{FF2B5EF4-FFF2-40B4-BE49-F238E27FC236}">
                  <a16:creationId xmlns:a16="http://schemas.microsoft.com/office/drawing/2014/main" id="{35AFF05C-CC55-4D12-A9ED-DD580D92549F}"/>
                </a:ext>
              </a:extLst>
            </p:cNvPr>
            <p:cNvSpPr/>
            <p:nvPr/>
          </p:nvSpPr>
          <p:spPr>
            <a:xfrm rot="1596057">
              <a:off x="-1790407" y="-1895702"/>
              <a:ext cx="4879276" cy="4773424"/>
            </a:xfrm>
            <a:prstGeom prst="arc">
              <a:avLst>
                <a:gd name="adj1" fmla="val 14534571"/>
                <a:gd name="adj2" fmla="val 11825103"/>
              </a:avLst>
            </a:prstGeom>
            <a:ln w="276225">
              <a:solidFill>
                <a:srgbClr val="0B98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4" name="Дуга 33">
              <a:extLst>
                <a:ext uri="{FF2B5EF4-FFF2-40B4-BE49-F238E27FC236}">
                  <a16:creationId xmlns:a16="http://schemas.microsoft.com/office/drawing/2014/main" id="{E19FCB90-F7BC-4A34-BD01-151872131890}"/>
                </a:ext>
              </a:extLst>
            </p:cNvPr>
            <p:cNvSpPr/>
            <p:nvPr/>
          </p:nvSpPr>
          <p:spPr>
            <a:xfrm rot="1596057">
              <a:off x="-1631490" y="-1708230"/>
              <a:ext cx="4459567" cy="4339229"/>
            </a:xfrm>
            <a:prstGeom prst="arc">
              <a:avLst>
                <a:gd name="adj1" fmla="val 14602491"/>
                <a:gd name="adj2" fmla="val 11841021"/>
              </a:avLst>
            </a:prstGeom>
            <a:noFill/>
            <a:ln w="276225">
              <a:solidFill>
                <a:srgbClr val="0B74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038C82A-2965-4F6F-A456-04D42DF71C63}"/>
              </a:ext>
            </a:extLst>
          </p:cNvPr>
          <p:cNvSpPr txBox="1"/>
          <p:nvPr/>
        </p:nvSpPr>
        <p:spPr>
          <a:xfrm>
            <a:off x="-258847" y="451801"/>
            <a:ext cx="2643808" cy="993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800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Календарный план</a:t>
            </a:r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BDB77257-AC22-4DA1-AB59-A56D7505D8EC}"/>
              </a:ext>
            </a:extLst>
          </p:cNvPr>
          <p:cNvSpPr/>
          <p:nvPr/>
        </p:nvSpPr>
        <p:spPr>
          <a:xfrm>
            <a:off x="4454396" y="213660"/>
            <a:ext cx="10176004" cy="975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Артефакты</a:t>
            </a: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проектной</a:t>
            </a:r>
            <a:r>
              <a:rPr lang="ru-RU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деятельности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36968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3C1BB4FE-500E-4162-8D1C-3D9853ABEA4F}"/>
              </a:ext>
            </a:extLst>
          </p:cNvPr>
          <p:cNvGrpSpPr/>
          <p:nvPr/>
        </p:nvGrpSpPr>
        <p:grpSpPr>
          <a:xfrm>
            <a:off x="-11844624" y="2156836"/>
            <a:ext cx="36835834" cy="5270760"/>
            <a:chOff x="-11071860" y="2255659"/>
            <a:chExt cx="36835834" cy="5270760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7FBE80E3-1A27-471D-AA9E-5FE37DA42C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141"/>
            <a:stretch/>
          </p:blipFill>
          <p:spPr>
            <a:xfrm>
              <a:off x="-11071860" y="2255659"/>
              <a:ext cx="14630400" cy="5270760"/>
            </a:xfrm>
            <a:prstGeom prst="rect">
              <a:avLst/>
            </a:prstGeom>
          </p:spPr>
        </p:pic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F1A965E2-B20F-42B8-9E52-AB8F23829C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491" b="9303"/>
            <a:stretch/>
          </p:blipFill>
          <p:spPr>
            <a:xfrm>
              <a:off x="1778040" y="2301379"/>
              <a:ext cx="14630400" cy="5162810"/>
            </a:xfrm>
            <a:prstGeom prst="rect">
              <a:avLst/>
            </a:prstGeom>
          </p:spPr>
        </p:pic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0684D2C1-A880-4B94-BC6D-EB1BC39817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/>
            </a:blip>
            <a:srcRect t="1931"/>
            <a:stretch/>
          </p:blipFill>
          <p:spPr>
            <a:xfrm>
              <a:off x="16407661" y="2299419"/>
              <a:ext cx="9356313" cy="5162810"/>
            </a:xfrm>
            <a:prstGeom prst="rect">
              <a:avLst/>
            </a:prstGeom>
          </p:spPr>
        </p:pic>
      </p:grpSp>
      <p:sp>
        <p:nvSpPr>
          <p:cNvPr id="42" name="Овал 41">
            <a:extLst>
              <a:ext uri="{FF2B5EF4-FFF2-40B4-BE49-F238E27FC236}">
                <a16:creationId xmlns:a16="http://schemas.microsoft.com/office/drawing/2014/main" id="{DAAA1B0A-3E09-4ED7-8B6D-DD790961C6C1}"/>
              </a:ext>
            </a:extLst>
          </p:cNvPr>
          <p:cNvSpPr/>
          <p:nvPr/>
        </p:nvSpPr>
        <p:spPr>
          <a:xfrm rot="16906392">
            <a:off x="-1994512" y="-2181110"/>
            <a:ext cx="5421531" cy="5421531"/>
          </a:xfrm>
          <a:prstGeom prst="ellipse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720435E0-85CB-489A-BFF9-5E5A9C3BB70B}"/>
              </a:ext>
            </a:extLst>
          </p:cNvPr>
          <p:cNvGrpSpPr/>
          <p:nvPr/>
        </p:nvGrpSpPr>
        <p:grpSpPr>
          <a:xfrm rot="14751039">
            <a:off x="-1951200" y="-2058381"/>
            <a:ext cx="5256521" cy="5142485"/>
            <a:chOff x="-1951200" y="-2070413"/>
            <a:chExt cx="5256521" cy="5142485"/>
          </a:xfrm>
        </p:grpSpPr>
        <p:sp>
          <p:nvSpPr>
            <p:cNvPr id="60" name="Дуга 59">
              <a:extLst>
                <a:ext uri="{FF2B5EF4-FFF2-40B4-BE49-F238E27FC236}">
                  <a16:creationId xmlns:a16="http://schemas.microsoft.com/office/drawing/2014/main" id="{6E849497-D64D-4FA7-9206-E233AEAC37C5}"/>
                </a:ext>
              </a:extLst>
            </p:cNvPr>
            <p:cNvSpPr/>
            <p:nvPr/>
          </p:nvSpPr>
          <p:spPr>
            <a:xfrm rot="1596057">
              <a:off x="-1951200" y="-2070413"/>
              <a:ext cx="5256521" cy="5142485"/>
            </a:xfrm>
            <a:prstGeom prst="arc">
              <a:avLst>
                <a:gd name="adj1" fmla="val 14500225"/>
                <a:gd name="adj2" fmla="val 11810971"/>
              </a:avLst>
            </a:prstGeom>
            <a:ln w="276225">
              <a:solidFill>
                <a:srgbClr val="7BD8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1" name="Дуга 60">
              <a:extLst>
                <a:ext uri="{FF2B5EF4-FFF2-40B4-BE49-F238E27FC236}">
                  <a16:creationId xmlns:a16="http://schemas.microsoft.com/office/drawing/2014/main" id="{C5C153C7-27A7-4C5C-B2D5-478E05C39491}"/>
                </a:ext>
              </a:extLst>
            </p:cNvPr>
            <p:cNvSpPr/>
            <p:nvPr/>
          </p:nvSpPr>
          <p:spPr>
            <a:xfrm rot="1596057">
              <a:off x="-1790407" y="-1895702"/>
              <a:ext cx="4879276" cy="4773424"/>
            </a:xfrm>
            <a:prstGeom prst="arc">
              <a:avLst>
                <a:gd name="adj1" fmla="val 14534571"/>
                <a:gd name="adj2" fmla="val 11825103"/>
              </a:avLst>
            </a:prstGeom>
            <a:ln w="276225">
              <a:solidFill>
                <a:srgbClr val="0B98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2" name="Дуга 61">
              <a:extLst>
                <a:ext uri="{FF2B5EF4-FFF2-40B4-BE49-F238E27FC236}">
                  <a16:creationId xmlns:a16="http://schemas.microsoft.com/office/drawing/2014/main" id="{0256A8B9-A35B-453D-A820-BC185AD0D5C7}"/>
                </a:ext>
              </a:extLst>
            </p:cNvPr>
            <p:cNvSpPr/>
            <p:nvPr/>
          </p:nvSpPr>
          <p:spPr>
            <a:xfrm rot="1596057">
              <a:off x="-1631490" y="-1708230"/>
              <a:ext cx="4459567" cy="4339229"/>
            </a:xfrm>
            <a:prstGeom prst="arc">
              <a:avLst>
                <a:gd name="adj1" fmla="val 14602491"/>
                <a:gd name="adj2" fmla="val 11841021"/>
              </a:avLst>
            </a:prstGeom>
            <a:noFill/>
            <a:ln w="276225">
              <a:solidFill>
                <a:srgbClr val="0B74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7413CD6D-8B30-4445-86C7-EB6D414BA31B}"/>
              </a:ext>
            </a:extLst>
          </p:cNvPr>
          <p:cNvSpPr txBox="1"/>
          <p:nvPr/>
        </p:nvSpPr>
        <p:spPr>
          <a:xfrm>
            <a:off x="-258847" y="451801"/>
            <a:ext cx="2643808" cy="993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800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Календарный план</a:t>
            </a:r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BDB77257-AC22-4DA1-AB59-A56D7505D8EC}"/>
              </a:ext>
            </a:extLst>
          </p:cNvPr>
          <p:cNvSpPr/>
          <p:nvPr/>
        </p:nvSpPr>
        <p:spPr>
          <a:xfrm>
            <a:off x="4454396" y="213660"/>
            <a:ext cx="10176004" cy="975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Артефакты</a:t>
            </a: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проектной</a:t>
            </a:r>
            <a:r>
              <a:rPr lang="ru-RU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деятельности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76252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3C1BB4FE-500E-4162-8D1C-3D9853ABEA4F}"/>
              </a:ext>
            </a:extLst>
          </p:cNvPr>
          <p:cNvGrpSpPr/>
          <p:nvPr/>
        </p:nvGrpSpPr>
        <p:grpSpPr>
          <a:xfrm>
            <a:off x="-25849406" y="2156836"/>
            <a:ext cx="36835834" cy="5270760"/>
            <a:chOff x="-11071860" y="2255659"/>
            <a:chExt cx="36835834" cy="5270760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7FBE80E3-1A27-471D-AA9E-5FE37DA42C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141"/>
            <a:stretch/>
          </p:blipFill>
          <p:spPr>
            <a:xfrm>
              <a:off x="-11071860" y="2255659"/>
              <a:ext cx="14630400" cy="5270760"/>
            </a:xfrm>
            <a:prstGeom prst="rect">
              <a:avLst/>
            </a:prstGeom>
          </p:spPr>
        </p:pic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F1A965E2-B20F-42B8-9E52-AB8F23829C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491" b="9303"/>
            <a:stretch/>
          </p:blipFill>
          <p:spPr>
            <a:xfrm>
              <a:off x="1778040" y="2301379"/>
              <a:ext cx="14630400" cy="5162810"/>
            </a:xfrm>
            <a:prstGeom prst="rect">
              <a:avLst/>
            </a:prstGeom>
          </p:spPr>
        </p:pic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0684D2C1-A880-4B94-BC6D-EB1BC39817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/>
            </a:blip>
            <a:srcRect t="1931"/>
            <a:stretch/>
          </p:blipFill>
          <p:spPr>
            <a:xfrm>
              <a:off x="16407661" y="2299419"/>
              <a:ext cx="9356313" cy="5162810"/>
            </a:xfrm>
            <a:prstGeom prst="rect">
              <a:avLst/>
            </a:prstGeom>
          </p:spPr>
        </p:pic>
      </p:grpSp>
      <p:sp>
        <p:nvSpPr>
          <p:cNvPr id="47" name="Овал 46">
            <a:extLst>
              <a:ext uri="{FF2B5EF4-FFF2-40B4-BE49-F238E27FC236}">
                <a16:creationId xmlns:a16="http://schemas.microsoft.com/office/drawing/2014/main" id="{D9B3547E-44BF-4319-9D46-6C7191B57DBA}"/>
              </a:ext>
            </a:extLst>
          </p:cNvPr>
          <p:cNvSpPr/>
          <p:nvPr/>
        </p:nvSpPr>
        <p:spPr>
          <a:xfrm rot="13810631">
            <a:off x="-1994512" y="-2181110"/>
            <a:ext cx="5421531" cy="5421531"/>
          </a:xfrm>
          <a:prstGeom prst="ellipse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DAEDCCFD-2A1B-4207-87FD-84D45F6235F2}"/>
              </a:ext>
            </a:extLst>
          </p:cNvPr>
          <p:cNvGrpSpPr/>
          <p:nvPr/>
        </p:nvGrpSpPr>
        <p:grpSpPr>
          <a:xfrm rot="3776713">
            <a:off x="-1951199" y="-1982182"/>
            <a:ext cx="5256521" cy="5142485"/>
            <a:chOff x="-1951200" y="-2070413"/>
            <a:chExt cx="5256521" cy="5142485"/>
          </a:xfrm>
        </p:grpSpPr>
        <p:sp>
          <p:nvSpPr>
            <p:cNvPr id="49" name="Дуга 48">
              <a:extLst>
                <a:ext uri="{FF2B5EF4-FFF2-40B4-BE49-F238E27FC236}">
                  <a16:creationId xmlns:a16="http://schemas.microsoft.com/office/drawing/2014/main" id="{B7CD95B6-32A1-42B0-9DAF-A273F727ED3B}"/>
                </a:ext>
              </a:extLst>
            </p:cNvPr>
            <p:cNvSpPr/>
            <p:nvPr/>
          </p:nvSpPr>
          <p:spPr>
            <a:xfrm rot="1596057">
              <a:off x="-1951200" y="-2070413"/>
              <a:ext cx="5256521" cy="5142485"/>
            </a:xfrm>
            <a:prstGeom prst="arc">
              <a:avLst>
                <a:gd name="adj1" fmla="val 14500225"/>
                <a:gd name="adj2" fmla="val 11810971"/>
              </a:avLst>
            </a:prstGeom>
            <a:ln w="276225">
              <a:solidFill>
                <a:srgbClr val="7BD8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0" name="Дуга 49">
              <a:extLst>
                <a:ext uri="{FF2B5EF4-FFF2-40B4-BE49-F238E27FC236}">
                  <a16:creationId xmlns:a16="http://schemas.microsoft.com/office/drawing/2014/main" id="{E7082DAE-805A-43B4-BBF8-B29176FE7760}"/>
                </a:ext>
              </a:extLst>
            </p:cNvPr>
            <p:cNvSpPr/>
            <p:nvPr/>
          </p:nvSpPr>
          <p:spPr>
            <a:xfrm rot="1596057">
              <a:off x="-1790407" y="-1895702"/>
              <a:ext cx="4879276" cy="4773424"/>
            </a:xfrm>
            <a:prstGeom prst="arc">
              <a:avLst>
                <a:gd name="adj1" fmla="val 14534571"/>
                <a:gd name="adj2" fmla="val 11825103"/>
              </a:avLst>
            </a:prstGeom>
            <a:ln w="276225">
              <a:solidFill>
                <a:srgbClr val="0B98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1" name="Дуга 50">
              <a:extLst>
                <a:ext uri="{FF2B5EF4-FFF2-40B4-BE49-F238E27FC236}">
                  <a16:creationId xmlns:a16="http://schemas.microsoft.com/office/drawing/2014/main" id="{5497A593-04B2-4C8C-BFBB-A26D3036D0B1}"/>
                </a:ext>
              </a:extLst>
            </p:cNvPr>
            <p:cNvSpPr/>
            <p:nvPr/>
          </p:nvSpPr>
          <p:spPr>
            <a:xfrm rot="1596057">
              <a:off x="-1631490" y="-1708230"/>
              <a:ext cx="4459567" cy="4339229"/>
            </a:xfrm>
            <a:prstGeom prst="arc">
              <a:avLst>
                <a:gd name="adj1" fmla="val 14602491"/>
                <a:gd name="adj2" fmla="val 11841021"/>
              </a:avLst>
            </a:prstGeom>
            <a:noFill/>
            <a:ln w="276225">
              <a:solidFill>
                <a:srgbClr val="0B74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7D9350A-F834-4F2C-B8AF-71FA785EB086}"/>
              </a:ext>
            </a:extLst>
          </p:cNvPr>
          <p:cNvSpPr txBox="1"/>
          <p:nvPr/>
        </p:nvSpPr>
        <p:spPr>
          <a:xfrm>
            <a:off x="-258847" y="451801"/>
            <a:ext cx="2643808" cy="993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800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Календарный план</a:t>
            </a:r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BDB77257-AC22-4DA1-AB59-A56D7505D8EC}"/>
              </a:ext>
            </a:extLst>
          </p:cNvPr>
          <p:cNvSpPr/>
          <p:nvPr/>
        </p:nvSpPr>
        <p:spPr>
          <a:xfrm>
            <a:off x="4454396" y="213660"/>
            <a:ext cx="10176004" cy="975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Артефакты</a:t>
            </a: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проектной</a:t>
            </a:r>
            <a:r>
              <a:rPr lang="ru-RU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деятельности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21674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B76486A-D279-43B6-B0D7-731437774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298" y="2279648"/>
            <a:ext cx="10650831" cy="1220851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4B52179-78D2-45D6-AE10-A1D03A7E96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1393"/>
          <a:stretch/>
        </p:blipFill>
        <p:spPr>
          <a:xfrm>
            <a:off x="3317299" y="2279648"/>
            <a:ext cx="10650832" cy="1050758"/>
          </a:xfrm>
          <a:prstGeom prst="rect">
            <a:avLst/>
          </a:prstGeo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F5865B22-0721-4331-8C2A-AF263E4241B6}"/>
              </a:ext>
            </a:extLst>
          </p:cNvPr>
          <p:cNvSpPr/>
          <p:nvPr/>
        </p:nvSpPr>
        <p:spPr>
          <a:xfrm rot="13810631">
            <a:off x="-2451670" y="2055959"/>
            <a:ext cx="5421531" cy="5421531"/>
          </a:xfrm>
          <a:prstGeom prst="ellipse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17819C19-F6A0-42C9-98A9-609089DF1C6D}"/>
              </a:ext>
            </a:extLst>
          </p:cNvPr>
          <p:cNvGrpSpPr/>
          <p:nvPr/>
        </p:nvGrpSpPr>
        <p:grpSpPr>
          <a:xfrm rot="13614711">
            <a:off x="-2708271" y="1810407"/>
            <a:ext cx="5256521" cy="5142485"/>
            <a:chOff x="-1951200" y="-2070413"/>
            <a:chExt cx="5256521" cy="5142485"/>
          </a:xfrm>
        </p:grpSpPr>
        <p:sp>
          <p:nvSpPr>
            <p:cNvPr id="13" name="Дуга 12">
              <a:extLst>
                <a:ext uri="{FF2B5EF4-FFF2-40B4-BE49-F238E27FC236}">
                  <a16:creationId xmlns:a16="http://schemas.microsoft.com/office/drawing/2014/main" id="{B8CAA90B-F093-4FCE-A884-51C287A5AA12}"/>
                </a:ext>
              </a:extLst>
            </p:cNvPr>
            <p:cNvSpPr/>
            <p:nvPr/>
          </p:nvSpPr>
          <p:spPr>
            <a:xfrm rot="1596057">
              <a:off x="-1951200" y="-2070413"/>
              <a:ext cx="5256521" cy="5142485"/>
            </a:xfrm>
            <a:prstGeom prst="arc">
              <a:avLst>
                <a:gd name="adj1" fmla="val 14500225"/>
                <a:gd name="adj2" fmla="val 11810971"/>
              </a:avLst>
            </a:prstGeom>
            <a:ln w="276225">
              <a:solidFill>
                <a:srgbClr val="7BD8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5" name="Дуга 14">
              <a:extLst>
                <a:ext uri="{FF2B5EF4-FFF2-40B4-BE49-F238E27FC236}">
                  <a16:creationId xmlns:a16="http://schemas.microsoft.com/office/drawing/2014/main" id="{2606AE90-097D-487E-97CA-0419A2A5A40B}"/>
                </a:ext>
              </a:extLst>
            </p:cNvPr>
            <p:cNvSpPr/>
            <p:nvPr/>
          </p:nvSpPr>
          <p:spPr>
            <a:xfrm rot="1596057">
              <a:off x="-1790407" y="-1895702"/>
              <a:ext cx="4879276" cy="4773424"/>
            </a:xfrm>
            <a:prstGeom prst="arc">
              <a:avLst>
                <a:gd name="adj1" fmla="val 14534571"/>
                <a:gd name="adj2" fmla="val 11825103"/>
              </a:avLst>
            </a:prstGeom>
            <a:ln w="276225">
              <a:solidFill>
                <a:srgbClr val="0B98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6" name="Дуга 15">
              <a:extLst>
                <a:ext uri="{FF2B5EF4-FFF2-40B4-BE49-F238E27FC236}">
                  <a16:creationId xmlns:a16="http://schemas.microsoft.com/office/drawing/2014/main" id="{31217692-51F6-4703-B407-90A5FA2EBB7E}"/>
                </a:ext>
              </a:extLst>
            </p:cNvPr>
            <p:cNvSpPr/>
            <p:nvPr/>
          </p:nvSpPr>
          <p:spPr>
            <a:xfrm rot="1596057">
              <a:off x="-1631490" y="-1708230"/>
              <a:ext cx="4459567" cy="4339229"/>
            </a:xfrm>
            <a:prstGeom prst="arc">
              <a:avLst>
                <a:gd name="adj1" fmla="val 14602491"/>
                <a:gd name="adj2" fmla="val 11841021"/>
              </a:avLst>
            </a:prstGeom>
            <a:noFill/>
            <a:ln w="276225">
              <a:solidFill>
                <a:srgbClr val="0B74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C4E7E72-C1A5-40FF-ACB5-83AB98846AA3}"/>
              </a:ext>
            </a:extLst>
          </p:cNvPr>
          <p:cNvSpPr txBox="1"/>
          <p:nvPr/>
        </p:nvSpPr>
        <p:spPr>
          <a:xfrm>
            <a:off x="-1062809" y="3917859"/>
            <a:ext cx="2643808" cy="1096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Реестр </a:t>
            </a:r>
          </a:p>
          <a:p>
            <a:pPr algn="r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рисков</a:t>
            </a:r>
            <a:endParaRPr lang="ru-RU" sz="2800" kern="1200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36E6B81E-0E6D-4EC7-A5A1-76F749F5CCBD}"/>
              </a:ext>
            </a:extLst>
          </p:cNvPr>
          <p:cNvSpPr/>
          <p:nvPr/>
        </p:nvSpPr>
        <p:spPr>
          <a:xfrm>
            <a:off x="377340" y="613227"/>
            <a:ext cx="10176004" cy="975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Артефакты</a:t>
            </a: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проектной</a:t>
            </a:r>
            <a:r>
              <a:rPr lang="ru-RU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деятельности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687077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B76486A-D279-43B6-B0D7-7314377743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362"/>
          <a:stretch/>
        </p:blipFill>
        <p:spPr>
          <a:xfrm>
            <a:off x="3317298" y="2279648"/>
            <a:ext cx="10650831" cy="728091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4B52179-78D2-45D6-AE10-A1D03A7E96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1393"/>
          <a:stretch/>
        </p:blipFill>
        <p:spPr>
          <a:xfrm>
            <a:off x="3317299" y="2279648"/>
            <a:ext cx="10650832" cy="1050758"/>
          </a:xfrm>
          <a:prstGeom prst="rect">
            <a:avLst/>
          </a:prstGeom>
        </p:spPr>
      </p:pic>
      <p:sp>
        <p:nvSpPr>
          <p:cNvPr id="11" name="Овал 10">
            <a:extLst>
              <a:ext uri="{FF2B5EF4-FFF2-40B4-BE49-F238E27FC236}">
                <a16:creationId xmlns:a16="http://schemas.microsoft.com/office/drawing/2014/main" id="{3E3764E8-22C5-440A-B05A-B4081B8F52E1}"/>
              </a:ext>
            </a:extLst>
          </p:cNvPr>
          <p:cNvSpPr/>
          <p:nvPr/>
        </p:nvSpPr>
        <p:spPr>
          <a:xfrm rot="13810631">
            <a:off x="-2451670" y="2055959"/>
            <a:ext cx="5421531" cy="5421531"/>
          </a:xfrm>
          <a:prstGeom prst="ellipse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2B16ECC-00BE-4C2E-9068-88FCFE8E47CE}"/>
              </a:ext>
            </a:extLst>
          </p:cNvPr>
          <p:cNvGrpSpPr/>
          <p:nvPr/>
        </p:nvGrpSpPr>
        <p:grpSpPr>
          <a:xfrm rot="6028490">
            <a:off x="-2708271" y="1810407"/>
            <a:ext cx="5256521" cy="5142485"/>
            <a:chOff x="-1951200" y="-2070413"/>
            <a:chExt cx="5256521" cy="5142485"/>
          </a:xfrm>
        </p:grpSpPr>
        <p:sp>
          <p:nvSpPr>
            <p:cNvPr id="15" name="Дуга 14">
              <a:extLst>
                <a:ext uri="{FF2B5EF4-FFF2-40B4-BE49-F238E27FC236}">
                  <a16:creationId xmlns:a16="http://schemas.microsoft.com/office/drawing/2014/main" id="{DF470FAE-83CE-48ED-81A2-4BE74EDD72D3}"/>
                </a:ext>
              </a:extLst>
            </p:cNvPr>
            <p:cNvSpPr/>
            <p:nvPr/>
          </p:nvSpPr>
          <p:spPr>
            <a:xfrm rot="1596057">
              <a:off x="-1951200" y="-2070413"/>
              <a:ext cx="5256521" cy="5142485"/>
            </a:xfrm>
            <a:prstGeom prst="arc">
              <a:avLst>
                <a:gd name="adj1" fmla="val 14500225"/>
                <a:gd name="adj2" fmla="val 11810971"/>
              </a:avLst>
            </a:prstGeom>
            <a:ln w="276225">
              <a:solidFill>
                <a:srgbClr val="7BD8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6" name="Дуга 15">
              <a:extLst>
                <a:ext uri="{FF2B5EF4-FFF2-40B4-BE49-F238E27FC236}">
                  <a16:creationId xmlns:a16="http://schemas.microsoft.com/office/drawing/2014/main" id="{E527BBF0-F896-454E-9B05-2A3EC0B261B6}"/>
                </a:ext>
              </a:extLst>
            </p:cNvPr>
            <p:cNvSpPr/>
            <p:nvPr/>
          </p:nvSpPr>
          <p:spPr>
            <a:xfrm rot="1596057">
              <a:off x="-1790407" y="-1895702"/>
              <a:ext cx="4879276" cy="4773424"/>
            </a:xfrm>
            <a:prstGeom prst="arc">
              <a:avLst>
                <a:gd name="adj1" fmla="val 14534571"/>
                <a:gd name="adj2" fmla="val 11825103"/>
              </a:avLst>
            </a:prstGeom>
            <a:ln w="276225">
              <a:solidFill>
                <a:srgbClr val="0B98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7" name="Дуга 16">
              <a:extLst>
                <a:ext uri="{FF2B5EF4-FFF2-40B4-BE49-F238E27FC236}">
                  <a16:creationId xmlns:a16="http://schemas.microsoft.com/office/drawing/2014/main" id="{5A6C213A-5B71-4801-A3AA-4134DF278178}"/>
                </a:ext>
              </a:extLst>
            </p:cNvPr>
            <p:cNvSpPr/>
            <p:nvPr/>
          </p:nvSpPr>
          <p:spPr>
            <a:xfrm rot="1596057">
              <a:off x="-1631490" y="-1708230"/>
              <a:ext cx="4459567" cy="4339229"/>
            </a:xfrm>
            <a:prstGeom prst="arc">
              <a:avLst>
                <a:gd name="adj1" fmla="val 14602491"/>
                <a:gd name="adj2" fmla="val 11841021"/>
              </a:avLst>
            </a:prstGeom>
            <a:noFill/>
            <a:ln w="276225">
              <a:solidFill>
                <a:srgbClr val="0B74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297D46B-A20B-4D59-8A91-70657250B08F}"/>
              </a:ext>
            </a:extLst>
          </p:cNvPr>
          <p:cNvSpPr txBox="1"/>
          <p:nvPr/>
        </p:nvSpPr>
        <p:spPr>
          <a:xfrm>
            <a:off x="-1062809" y="3917859"/>
            <a:ext cx="2643808" cy="1096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Реестр </a:t>
            </a:r>
          </a:p>
          <a:p>
            <a:pPr algn="r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рисков</a:t>
            </a:r>
            <a:endParaRPr lang="ru-RU" sz="2800" kern="1200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C6FCB7EC-B66F-4D01-B371-75A348A957BA}"/>
              </a:ext>
            </a:extLst>
          </p:cNvPr>
          <p:cNvSpPr/>
          <p:nvPr/>
        </p:nvSpPr>
        <p:spPr>
          <a:xfrm>
            <a:off x="377340" y="613227"/>
            <a:ext cx="10176004" cy="975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Артефакты</a:t>
            </a: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проектной</a:t>
            </a:r>
            <a:r>
              <a:rPr lang="ru-RU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деятельности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26183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B76486A-D279-43B6-B0D7-7314377743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1526"/>
          <a:stretch/>
        </p:blipFill>
        <p:spPr>
          <a:xfrm>
            <a:off x="3317298" y="2279648"/>
            <a:ext cx="10650831" cy="2255408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4B52179-78D2-45D6-AE10-A1D03A7E96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1393"/>
          <a:stretch/>
        </p:blipFill>
        <p:spPr>
          <a:xfrm>
            <a:off x="3317299" y="2279648"/>
            <a:ext cx="10650832" cy="1050758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C54A33FE-2073-4D9F-B2E4-9AF02C374B43}"/>
              </a:ext>
            </a:extLst>
          </p:cNvPr>
          <p:cNvSpPr/>
          <p:nvPr/>
        </p:nvSpPr>
        <p:spPr>
          <a:xfrm>
            <a:off x="377340" y="613227"/>
            <a:ext cx="10176004" cy="975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Артефакты</a:t>
            </a: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проектной</a:t>
            </a:r>
            <a:r>
              <a:rPr lang="ru-RU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деятельности</a:t>
            </a:r>
            <a:endParaRPr lang="en-US" sz="3200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676EEC9D-B59F-48BC-9F40-54CF3091258A}"/>
              </a:ext>
            </a:extLst>
          </p:cNvPr>
          <p:cNvSpPr/>
          <p:nvPr/>
        </p:nvSpPr>
        <p:spPr>
          <a:xfrm rot="17746905">
            <a:off x="-2451670" y="2055959"/>
            <a:ext cx="5421531" cy="5421531"/>
          </a:xfrm>
          <a:prstGeom prst="ellipse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94A07B47-A20D-4D59-9743-E6DACA40F047}"/>
              </a:ext>
            </a:extLst>
          </p:cNvPr>
          <p:cNvGrpSpPr/>
          <p:nvPr/>
        </p:nvGrpSpPr>
        <p:grpSpPr>
          <a:xfrm rot="18649950">
            <a:off x="-2708271" y="1810407"/>
            <a:ext cx="5256521" cy="5142485"/>
            <a:chOff x="-1951200" y="-2070413"/>
            <a:chExt cx="5256521" cy="5142485"/>
          </a:xfrm>
        </p:grpSpPr>
        <p:sp>
          <p:nvSpPr>
            <p:cNvPr id="16" name="Дуга 15">
              <a:extLst>
                <a:ext uri="{FF2B5EF4-FFF2-40B4-BE49-F238E27FC236}">
                  <a16:creationId xmlns:a16="http://schemas.microsoft.com/office/drawing/2014/main" id="{3083B6C8-D884-4230-A925-D5821915649F}"/>
                </a:ext>
              </a:extLst>
            </p:cNvPr>
            <p:cNvSpPr/>
            <p:nvPr/>
          </p:nvSpPr>
          <p:spPr>
            <a:xfrm rot="1596057">
              <a:off x="-1951200" y="-2070413"/>
              <a:ext cx="5256521" cy="5142485"/>
            </a:xfrm>
            <a:prstGeom prst="arc">
              <a:avLst>
                <a:gd name="adj1" fmla="val 14500225"/>
                <a:gd name="adj2" fmla="val 11810971"/>
              </a:avLst>
            </a:prstGeom>
            <a:ln w="276225">
              <a:solidFill>
                <a:srgbClr val="7BD8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7" name="Дуга 16">
              <a:extLst>
                <a:ext uri="{FF2B5EF4-FFF2-40B4-BE49-F238E27FC236}">
                  <a16:creationId xmlns:a16="http://schemas.microsoft.com/office/drawing/2014/main" id="{2C7B4173-1DBF-4A21-85E4-88A44F4181B8}"/>
                </a:ext>
              </a:extLst>
            </p:cNvPr>
            <p:cNvSpPr/>
            <p:nvPr/>
          </p:nvSpPr>
          <p:spPr>
            <a:xfrm rot="1596057">
              <a:off x="-1790407" y="-1895702"/>
              <a:ext cx="4879276" cy="4773424"/>
            </a:xfrm>
            <a:prstGeom prst="arc">
              <a:avLst>
                <a:gd name="adj1" fmla="val 14534571"/>
                <a:gd name="adj2" fmla="val 11825103"/>
              </a:avLst>
            </a:prstGeom>
            <a:ln w="276225">
              <a:solidFill>
                <a:srgbClr val="0B98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8" name="Дуга 17">
              <a:extLst>
                <a:ext uri="{FF2B5EF4-FFF2-40B4-BE49-F238E27FC236}">
                  <a16:creationId xmlns:a16="http://schemas.microsoft.com/office/drawing/2014/main" id="{2D4E5343-2B7D-4168-8828-D462466D9C70}"/>
                </a:ext>
              </a:extLst>
            </p:cNvPr>
            <p:cNvSpPr/>
            <p:nvPr/>
          </p:nvSpPr>
          <p:spPr>
            <a:xfrm rot="1596057">
              <a:off x="-1631490" y="-1708230"/>
              <a:ext cx="4459567" cy="4339229"/>
            </a:xfrm>
            <a:prstGeom prst="arc">
              <a:avLst>
                <a:gd name="adj1" fmla="val 14602491"/>
                <a:gd name="adj2" fmla="val 11841021"/>
              </a:avLst>
            </a:prstGeom>
            <a:noFill/>
            <a:ln w="276225">
              <a:solidFill>
                <a:srgbClr val="0B74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D9ACEBC-737A-4971-B87E-4A6D6521D7D4}"/>
              </a:ext>
            </a:extLst>
          </p:cNvPr>
          <p:cNvSpPr txBox="1"/>
          <p:nvPr/>
        </p:nvSpPr>
        <p:spPr>
          <a:xfrm>
            <a:off x="-1062809" y="3917859"/>
            <a:ext cx="2643808" cy="1096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Реестр </a:t>
            </a:r>
          </a:p>
          <a:p>
            <a:pPr algn="r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рисков</a:t>
            </a:r>
            <a:endParaRPr lang="ru-RU" sz="2800" kern="1200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452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4A75E2-5EB4-462F-BED2-FDFA2D5A6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68" y="2173351"/>
            <a:ext cx="10620958" cy="5142485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0FC41EDE-7EF3-435B-97B9-8EADE36C8775}"/>
              </a:ext>
            </a:extLst>
          </p:cNvPr>
          <p:cNvSpPr/>
          <p:nvPr/>
        </p:nvSpPr>
        <p:spPr>
          <a:xfrm>
            <a:off x="377340" y="613227"/>
            <a:ext cx="10176004" cy="975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Артефакты</a:t>
            </a: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проектной</a:t>
            </a:r>
            <a:r>
              <a:rPr lang="ru-RU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деятельности</a:t>
            </a:r>
            <a:endParaRPr lang="en-US" sz="3200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6FF5D21D-C57C-434F-920D-0DDC26BEB2F1}"/>
              </a:ext>
            </a:extLst>
          </p:cNvPr>
          <p:cNvSpPr/>
          <p:nvPr/>
        </p:nvSpPr>
        <p:spPr>
          <a:xfrm rot="13810631">
            <a:off x="12342938" y="1886689"/>
            <a:ext cx="5421531" cy="5421531"/>
          </a:xfrm>
          <a:prstGeom prst="ellipse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2481827-70CA-44AA-AB9F-A1D8DD91D707}"/>
              </a:ext>
            </a:extLst>
          </p:cNvPr>
          <p:cNvGrpSpPr/>
          <p:nvPr/>
        </p:nvGrpSpPr>
        <p:grpSpPr>
          <a:xfrm rot="6528992">
            <a:off x="12002138" y="2088048"/>
            <a:ext cx="5256521" cy="5142485"/>
            <a:chOff x="-1951200" y="-2070413"/>
            <a:chExt cx="5256521" cy="5142485"/>
          </a:xfrm>
        </p:grpSpPr>
        <p:sp>
          <p:nvSpPr>
            <p:cNvPr id="16" name="Дуга 15">
              <a:extLst>
                <a:ext uri="{FF2B5EF4-FFF2-40B4-BE49-F238E27FC236}">
                  <a16:creationId xmlns:a16="http://schemas.microsoft.com/office/drawing/2014/main" id="{48A4AB4A-3929-474C-BE85-D8CF846D36CA}"/>
                </a:ext>
              </a:extLst>
            </p:cNvPr>
            <p:cNvSpPr/>
            <p:nvPr/>
          </p:nvSpPr>
          <p:spPr>
            <a:xfrm rot="1596057">
              <a:off x="-1951200" y="-2070413"/>
              <a:ext cx="5256521" cy="5142485"/>
            </a:xfrm>
            <a:prstGeom prst="arc">
              <a:avLst>
                <a:gd name="adj1" fmla="val 14500225"/>
                <a:gd name="adj2" fmla="val 11810971"/>
              </a:avLst>
            </a:prstGeom>
            <a:ln w="276225">
              <a:solidFill>
                <a:srgbClr val="7BD8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7" name="Дуга 16">
              <a:extLst>
                <a:ext uri="{FF2B5EF4-FFF2-40B4-BE49-F238E27FC236}">
                  <a16:creationId xmlns:a16="http://schemas.microsoft.com/office/drawing/2014/main" id="{A96C4A2F-80DB-456A-9DEF-6F2FFC948CEA}"/>
                </a:ext>
              </a:extLst>
            </p:cNvPr>
            <p:cNvSpPr/>
            <p:nvPr/>
          </p:nvSpPr>
          <p:spPr>
            <a:xfrm rot="1596057">
              <a:off x="-1790407" y="-1895702"/>
              <a:ext cx="4879276" cy="4773424"/>
            </a:xfrm>
            <a:prstGeom prst="arc">
              <a:avLst>
                <a:gd name="adj1" fmla="val 14534571"/>
                <a:gd name="adj2" fmla="val 11825103"/>
              </a:avLst>
            </a:prstGeom>
            <a:ln w="276225">
              <a:solidFill>
                <a:srgbClr val="0B98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8" name="Дуга 17">
              <a:extLst>
                <a:ext uri="{FF2B5EF4-FFF2-40B4-BE49-F238E27FC236}">
                  <a16:creationId xmlns:a16="http://schemas.microsoft.com/office/drawing/2014/main" id="{39A7EDD3-2AE3-42D5-9B4A-F8F1B4475413}"/>
                </a:ext>
              </a:extLst>
            </p:cNvPr>
            <p:cNvSpPr/>
            <p:nvPr/>
          </p:nvSpPr>
          <p:spPr>
            <a:xfrm rot="1596057">
              <a:off x="-1631490" y="-1708230"/>
              <a:ext cx="4459567" cy="4339229"/>
            </a:xfrm>
            <a:prstGeom prst="arc">
              <a:avLst>
                <a:gd name="adj1" fmla="val 14602491"/>
                <a:gd name="adj2" fmla="val 11841021"/>
              </a:avLst>
            </a:prstGeom>
            <a:noFill/>
            <a:ln w="276225">
              <a:solidFill>
                <a:srgbClr val="0B74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7E1E0F2-471A-4335-8D65-AFF60738EEDD}"/>
              </a:ext>
            </a:extLst>
          </p:cNvPr>
          <p:cNvSpPr txBox="1"/>
          <p:nvPr/>
        </p:nvSpPr>
        <p:spPr>
          <a:xfrm>
            <a:off x="11603224" y="4049194"/>
            <a:ext cx="2643808" cy="1096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Смета </a:t>
            </a:r>
          </a:p>
          <a:p>
            <a:pPr algn="r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проекта</a:t>
            </a: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353A88D3-DF44-4DFF-9CC9-5252E10D7658}"/>
              </a:ext>
            </a:extLst>
          </p:cNvPr>
          <p:cNvSpPr/>
          <p:nvPr/>
        </p:nvSpPr>
        <p:spPr>
          <a:xfrm>
            <a:off x="387723" y="-923473"/>
            <a:ext cx="13108147" cy="17375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Полученные результаты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633702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/>
          <p:cNvSpPr/>
          <p:nvPr/>
        </p:nvSpPr>
        <p:spPr>
          <a:xfrm>
            <a:off x="684136" y="1919522"/>
            <a:ext cx="45857" cy="6438462"/>
          </a:xfrm>
          <a:prstGeom prst="rect">
            <a:avLst/>
          </a:prstGeom>
          <a:solidFill>
            <a:srgbClr val="7BD849"/>
          </a:solidFill>
          <a:ln/>
        </p:spPr>
      </p:sp>
      <p:sp>
        <p:nvSpPr>
          <p:cNvPr id="7" name="Shape 3"/>
          <p:cNvSpPr/>
          <p:nvPr/>
        </p:nvSpPr>
        <p:spPr>
          <a:xfrm>
            <a:off x="1015176" y="2066697"/>
            <a:ext cx="976044" cy="32512"/>
          </a:xfrm>
          <a:prstGeom prst="rect">
            <a:avLst/>
          </a:prstGeom>
          <a:solidFill>
            <a:srgbClr val="7BD849"/>
          </a:solidFill>
          <a:ln/>
        </p:spPr>
      </p:sp>
      <p:sp>
        <p:nvSpPr>
          <p:cNvPr id="10" name="Text 6"/>
          <p:cNvSpPr/>
          <p:nvPr/>
        </p:nvSpPr>
        <p:spPr>
          <a:xfrm>
            <a:off x="2235317" y="1687504"/>
            <a:ext cx="6962243" cy="8151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421"/>
              </a:lnSpc>
              <a:buNone/>
            </a:pPr>
            <a:r>
              <a:rPr lang="en-US" sz="20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Более</a:t>
            </a: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10</a:t>
            </a:r>
            <a:r>
              <a:rPr lang="ru-RU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%</a:t>
            </a: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ru-RU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студентов</a:t>
            </a:r>
            <a:r>
              <a:rPr lang="ru-RU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СПБПУ с институтов ИКНК, </a:t>
            </a:r>
            <a:r>
              <a:rPr lang="ru-RU" sz="20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ФизМех</a:t>
            </a:r>
            <a:r>
              <a:rPr lang="ru-RU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, ИЭ, ИММИТ  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2235319" y="2625096"/>
            <a:ext cx="7211984" cy="129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  <a:tabLst>
                <a:tab pos="3857625" algn="l"/>
              </a:tabLst>
            </a:pP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Нашим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ботом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заинтересовалось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более</a:t>
            </a:r>
            <a:r>
              <a:rPr lang="ru-RU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10% студентов СПБПУ с институтов ИКНК, </a:t>
            </a:r>
            <a:r>
              <a:rPr lang="ru-RU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ФизМех</a:t>
            </a:r>
            <a:r>
              <a:rPr lang="ru-RU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ИЭ, ИММИТ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студентов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что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превысило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наши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ожидания</a:t>
            </a:r>
            <a:endParaRPr lang="en-US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34F50FAC-DF27-47EE-B35C-964DA2384C49}"/>
              </a:ext>
            </a:extLst>
          </p:cNvPr>
          <p:cNvGrpSpPr/>
          <p:nvPr/>
        </p:nvGrpSpPr>
        <p:grpSpPr>
          <a:xfrm>
            <a:off x="427892" y="8657069"/>
            <a:ext cx="8809834" cy="1423239"/>
            <a:chOff x="427892" y="4120234"/>
            <a:chExt cx="8809834" cy="1423239"/>
          </a:xfrm>
        </p:grpSpPr>
        <p:sp>
          <p:nvSpPr>
            <p:cNvPr id="13" name="Shape 9"/>
            <p:cNvSpPr/>
            <p:nvPr/>
          </p:nvSpPr>
          <p:spPr>
            <a:xfrm>
              <a:off x="427892" y="4120234"/>
              <a:ext cx="627448" cy="587000"/>
            </a:xfrm>
            <a:prstGeom prst="roundRect">
              <a:avLst>
                <a:gd name="adj" fmla="val 13335"/>
              </a:avLst>
            </a:prstGeom>
            <a:solidFill>
              <a:srgbClr val="0B747F"/>
            </a:solidFill>
            <a:ln/>
          </p:spPr>
          <p:txBody>
            <a:bodyPr anchor="ctr" anchorCtr="1"/>
            <a:lstStyle/>
            <a:p>
              <a:r>
                <a:rPr lang="ru-RU" sz="2800" dirty="0">
                  <a:solidFill>
                    <a:schemeClr val="bg1"/>
                  </a:solidFill>
                  <a:latin typeface="Unbounded" pitchFamily="2" charset="-52"/>
                </a:rPr>
                <a:t>2</a:t>
              </a:r>
              <a:endParaRPr lang="ru-RU" dirty="0">
                <a:solidFill>
                  <a:schemeClr val="bg1"/>
                </a:solidFill>
                <a:latin typeface="Unbounded" pitchFamily="2" charset="-52"/>
              </a:endParaRPr>
            </a:p>
          </p:txBody>
        </p:sp>
        <p:sp>
          <p:nvSpPr>
            <p:cNvPr id="12" name="Shape 8"/>
            <p:cNvSpPr/>
            <p:nvPr/>
          </p:nvSpPr>
          <p:spPr>
            <a:xfrm>
              <a:off x="1055340" y="4397366"/>
              <a:ext cx="976044" cy="32512"/>
            </a:xfrm>
            <a:prstGeom prst="rect">
              <a:avLst/>
            </a:prstGeom>
            <a:solidFill>
              <a:srgbClr val="7BD849"/>
            </a:solidFill>
            <a:ln/>
          </p:spPr>
        </p:sp>
        <p:sp>
          <p:nvSpPr>
            <p:cNvPr id="15" name="Text 11"/>
            <p:cNvSpPr/>
            <p:nvPr/>
          </p:nvSpPr>
          <p:spPr>
            <a:xfrm>
              <a:off x="2275485" y="4177213"/>
              <a:ext cx="6793497" cy="40757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l">
                <a:lnSpc>
                  <a:spcPts val="3421"/>
                </a:lnSpc>
                <a:buNone/>
              </a:pPr>
              <a:r>
                <a:rPr lang="en-US" sz="2000" dirty="0">
                  <a:solidFill>
                    <a:srgbClr val="FFFFFF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Реализация имитации гадания</a:t>
              </a:r>
              <a:endParaRPr lang="en-US" sz="2000" dirty="0"/>
            </a:p>
          </p:txBody>
        </p:sp>
        <p:sp>
          <p:nvSpPr>
            <p:cNvPr id="16" name="Text 12"/>
            <p:cNvSpPr/>
            <p:nvPr/>
          </p:nvSpPr>
          <p:spPr>
            <a:xfrm>
              <a:off x="2275483" y="4708667"/>
              <a:ext cx="6962243" cy="83480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lnSpc>
                  <a:spcPts val="3503"/>
                </a:lnSpc>
                <a:buNone/>
              </a:pPr>
              <a:r>
                <a:rPr lang="en-US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Нам удалось реализовать интерактивную имитацию гадания с </a:t>
              </a:r>
              <a:r>
                <a:rPr lang="en-US" dirty="0" err="1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помощью</a:t>
              </a:r>
              <a:r>
                <a:rPr lang="en-US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 </a:t>
              </a:r>
              <a:r>
                <a:rPr lang="ru-RU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совмещения телеграмм-бота и </a:t>
              </a:r>
              <a:r>
                <a:rPr lang="en-US" dirty="0" err="1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таро</a:t>
              </a:r>
              <a:r>
                <a:rPr lang="ru-RU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 карт</a:t>
              </a:r>
              <a:endParaRPr lang="en-US" dirty="0"/>
            </a:p>
          </p:txBody>
        </p:sp>
      </p:grp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0259709-786C-462D-BE62-09F54F67B3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0"/>
          <a:stretch/>
        </p:blipFill>
        <p:spPr>
          <a:xfrm>
            <a:off x="9772650" y="1"/>
            <a:ext cx="485775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7723" y="613227"/>
            <a:ext cx="13108147" cy="798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Полученные результаты</a:t>
            </a:r>
            <a:endParaRPr lang="en-US" sz="360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CF1ABEE0-1506-4697-B608-2E9FA7356156}"/>
              </a:ext>
            </a:extLst>
          </p:cNvPr>
          <p:cNvSpPr/>
          <p:nvPr/>
        </p:nvSpPr>
        <p:spPr>
          <a:xfrm>
            <a:off x="387723" y="1773197"/>
            <a:ext cx="627448" cy="587000"/>
          </a:xfrm>
          <a:prstGeom prst="roundRect">
            <a:avLst>
              <a:gd name="adj" fmla="val 13335"/>
            </a:avLst>
          </a:prstGeom>
          <a:solidFill>
            <a:srgbClr val="0B747F"/>
          </a:solidFill>
          <a:ln/>
        </p:spPr>
        <p:txBody>
          <a:bodyPr anchor="ctr" anchorCtr="1"/>
          <a:lstStyle/>
          <a:p>
            <a:r>
              <a:rPr lang="ru-RU" sz="2800" dirty="0">
                <a:solidFill>
                  <a:schemeClr val="bg1"/>
                </a:solidFill>
                <a:latin typeface="Unbounded" pitchFamily="2" charset="-52"/>
              </a:rPr>
              <a:t>1</a:t>
            </a:r>
            <a:endParaRPr lang="ru-RU" dirty="0">
              <a:solidFill>
                <a:schemeClr val="bg1"/>
              </a:solidFill>
              <a:latin typeface="Unbounded" pitchFamily="2" charset="-52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D2D730B-F6FB-4D12-BBBC-570A3929F606}"/>
              </a:ext>
            </a:extLst>
          </p:cNvPr>
          <p:cNvGrpSpPr/>
          <p:nvPr/>
        </p:nvGrpSpPr>
        <p:grpSpPr>
          <a:xfrm>
            <a:off x="387730" y="11060945"/>
            <a:ext cx="8809835" cy="1405662"/>
            <a:chOff x="387730" y="6184153"/>
            <a:chExt cx="8809835" cy="1405662"/>
          </a:xfrm>
        </p:grpSpPr>
        <p:sp>
          <p:nvSpPr>
            <p:cNvPr id="17" name="Shape 13"/>
            <p:cNvSpPr/>
            <p:nvPr/>
          </p:nvSpPr>
          <p:spPr>
            <a:xfrm>
              <a:off x="1015178" y="6445141"/>
              <a:ext cx="976044" cy="32512"/>
            </a:xfrm>
            <a:prstGeom prst="rect">
              <a:avLst/>
            </a:prstGeom>
            <a:solidFill>
              <a:srgbClr val="7BD849"/>
            </a:solidFill>
            <a:ln/>
          </p:spPr>
        </p:sp>
        <p:sp>
          <p:nvSpPr>
            <p:cNvPr id="20" name="Text 16"/>
            <p:cNvSpPr/>
            <p:nvPr/>
          </p:nvSpPr>
          <p:spPr>
            <a:xfrm>
              <a:off x="2235323" y="6224988"/>
              <a:ext cx="4662155" cy="40757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l">
                <a:lnSpc>
                  <a:spcPts val="3421"/>
                </a:lnSpc>
                <a:buNone/>
              </a:pPr>
              <a:r>
                <a:rPr lang="en-US" sz="2000" dirty="0">
                  <a:solidFill>
                    <a:srgbClr val="FFFFFF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Сбор обратной связи</a:t>
              </a:r>
              <a:endParaRPr lang="en-US" sz="2000" dirty="0"/>
            </a:p>
          </p:txBody>
        </p:sp>
        <p:sp>
          <p:nvSpPr>
            <p:cNvPr id="21" name="Text 17"/>
            <p:cNvSpPr/>
            <p:nvPr/>
          </p:nvSpPr>
          <p:spPr>
            <a:xfrm>
              <a:off x="2235322" y="6755009"/>
              <a:ext cx="6962243" cy="83480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lnSpc>
                  <a:spcPts val="3503"/>
                </a:lnSpc>
                <a:buNone/>
              </a:pPr>
              <a:r>
                <a:rPr lang="en-US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Мы собрали ценную обратную связь от студентов, которая поможет нам улучшить бот</a:t>
              </a:r>
              <a:endParaRPr lang="en-US" dirty="0"/>
            </a:p>
          </p:txBody>
        </p:sp>
        <p:sp>
          <p:nvSpPr>
            <p:cNvPr id="26" name="Shape 9">
              <a:extLst>
                <a:ext uri="{FF2B5EF4-FFF2-40B4-BE49-F238E27FC236}">
                  <a16:creationId xmlns:a16="http://schemas.microsoft.com/office/drawing/2014/main" id="{2C371BB9-C7F5-41A2-9C94-84C0FCC75F2C}"/>
                </a:ext>
              </a:extLst>
            </p:cNvPr>
            <p:cNvSpPr/>
            <p:nvPr/>
          </p:nvSpPr>
          <p:spPr>
            <a:xfrm>
              <a:off x="387730" y="6184153"/>
              <a:ext cx="627448" cy="587000"/>
            </a:xfrm>
            <a:prstGeom prst="roundRect">
              <a:avLst>
                <a:gd name="adj" fmla="val 13335"/>
              </a:avLst>
            </a:prstGeom>
            <a:solidFill>
              <a:srgbClr val="0B747F"/>
            </a:solidFill>
            <a:ln/>
          </p:spPr>
          <p:txBody>
            <a:bodyPr anchor="ctr" anchorCtr="1"/>
            <a:lstStyle/>
            <a:p>
              <a:r>
                <a:rPr lang="ru-RU" sz="2800" dirty="0">
                  <a:solidFill>
                    <a:schemeClr val="bg1"/>
                  </a:solidFill>
                  <a:latin typeface="Unbounded" pitchFamily="2" charset="-52"/>
                </a:rPr>
                <a:t>3</a:t>
              </a:r>
              <a:endParaRPr lang="ru-RU" dirty="0">
                <a:solidFill>
                  <a:schemeClr val="bg1"/>
                </a:solidFill>
                <a:latin typeface="Unbounded" pitchFamily="2" charset="-5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84352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/>
          <p:cNvSpPr/>
          <p:nvPr/>
        </p:nvSpPr>
        <p:spPr>
          <a:xfrm>
            <a:off x="684136" y="1919522"/>
            <a:ext cx="45857" cy="6438462"/>
          </a:xfrm>
          <a:prstGeom prst="rect">
            <a:avLst/>
          </a:prstGeom>
          <a:solidFill>
            <a:srgbClr val="7BD849"/>
          </a:solidFill>
          <a:ln/>
        </p:spPr>
      </p:sp>
      <p:sp>
        <p:nvSpPr>
          <p:cNvPr id="7" name="Shape 3"/>
          <p:cNvSpPr/>
          <p:nvPr/>
        </p:nvSpPr>
        <p:spPr>
          <a:xfrm>
            <a:off x="1015176" y="2066697"/>
            <a:ext cx="976044" cy="32512"/>
          </a:xfrm>
          <a:prstGeom prst="rect">
            <a:avLst/>
          </a:prstGeom>
          <a:solidFill>
            <a:srgbClr val="7BD849"/>
          </a:solidFill>
          <a:ln/>
        </p:spPr>
      </p:sp>
      <p:sp>
        <p:nvSpPr>
          <p:cNvPr id="10" name="Text 6"/>
          <p:cNvSpPr/>
          <p:nvPr/>
        </p:nvSpPr>
        <p:spPr>
          <a:xfrm>
            <a:off x="2235317" y="1687504"/>
            <a:ext cx="6962243" cy="8151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421"/>
              </a:lnSpc>
              <a:buNone/>
            </a:pPr>
            <a:r>
              <a:rPr lang="en-US" sz="20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Более</a:t>
            </a: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10</a:t>
            </a:r>
            <a:r>
              <a:rPr lang="ru-RU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%</a:t>
            </a: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ru-RU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студентов</a:t>
            </a:r>
            <a:r>
              <a:rPr lang="ru-RU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СПБПУ с институтов ИКНК, </a:t>
            </a:r>
            <a:r>
              <a:rPr lang="ru-RU" sz="20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ФизМех</a:t>
            </a:r>
            <a:r>
              <a:rPr lang="ru-RU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, ИЭ, ИММИТ  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2235319" y="2625096"/>
            <a:ext cx="7211984" cy="129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  <a:tabLst>
                <a:tab pos="3857625" algn="l"/>
              </a:tabLst>
            </a:pP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Нашим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ботом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заинтересовалось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более</a:t>
            </a:r>
            <a:r>
              <a:rPr lang="ru-RU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10% студентов СПБПУ с институтов ИКНК, </a:t>
            </a:r>
            <a:r>
              <a:rPr lang="ru-RU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ФизМех</a:t>
            </a:r>
            <a:r>
              <a:rPr lang="ru-RU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ИЭ, ИММИТ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студентов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что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превысило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наши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ожидания</a:t>
            </a:r>
            <a:endParaRPr lang="en-US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34F50FAC-DF27-47EE-B35C-964DA2384C49}"/>
              </a:ext>
            </a:extLst>
          </p:cNvPr>
          <p:cNvGrpSpPr/>
          <p:nvPr/>
        </p:nvGrpSpPr>
        <p:grpSpPr>
          <a:xfrm>
            <a:off x="427892" y="4120234"/>
            <a:ext cx="8809834" cy="1423239"/>
            <a:chOff x="427892" y="4120234"/>
            <a:chExt cx="8809834" cy="1423239"/>
          </a:xfrm>
        </p:grpSpPr>
        <p:sp>
          <p:nvSpPr>
            <p:cNvPr id="13" name="Shape 9"/>
            <p:cNvSpPr/>
            <p:nvPr/>
          </p:nvSpPr>
          <p:spPr>
            <a:xfrm>
              <a:off x="427892" y="4120234"/>
              <a:ext cx="627448" cy="587000"/>
            </a:xfrm>
            <a:prstGeom prst="roundRect">
              <a:avLst>
                <a:gd name="adj" fmla="val 13335"/>
              </a:avLst>
            </a:prstGeom>
            <a:solidFill>
              <a:srgbClr val="0B747F"/>
            </a:solidFill>
            <a:ln/>
          </p:spPr>
          <p:txBody>
            <a:bodyPr anchor="ctr" anchorCtr="1"/>
            <a:lstStyle/>
            <a:p>
              <a:r>
                <a:rPr lang="ru-RU" sz="2800" dirty="0">
                  <a:solidFill>
                    <a:schemeClr val="bg1"/>
                  </a:solidFill>
                  <a:latin typeface="Unbounded" pitchFamily="2" charset="-52"/>
                </a:rPr>
                <a:t>2</a:t>
              </a:r>
              <a:endParaRPr lang="ru-RU" dirty="0">
                <a:solidFill>
                  <a:schemeClr val="bg1"/>
                </a:solidFill>
                <a:latin typeface="Unbounded" pitchFamily="2" charset="-52"/>
              </a:endParaRPr>
            </a:p>
          </p:txBody>
        </p:sp>
        <p:sp>
          <p:nvSpPr>
            <p:cNvPr id="12" name="Shape 8"/>
            <p:cNvSpPr/>
            <p:nvPr/>
          </p:nvSpPr>
          <p:spPr>
            <a:xfrm>
              <a:off x="1055340" y="4397366"/>
              <a:ext cx="976044" cy="32512"/>
            </a:xfrm>
            <a:prstGeom prst="rect">
              <a:avLst/>
            </a:prstGeom>
            <a:solidFill>
              <a:srgbClr val="7BD849"/>
            </a:solidFill>
            <a:ln/>
          </p:spPr>
        </p:sp>
        <p:sp>
          <p:nvSpPr>
            <p:cNvPr id="15" name="Text 11"/>
            <p:cNvSpPr/>
            <p:nvPr/>
          </p:nvSpPr>
          <p:spPr>
            <a:xfrm>
              <a:off x="2275485" y="4177213"/>
              <a:ext cx="6793497" cy="40757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l">
                <a:lnSpc>
                  <a:spcPts val="3421"/>
                </a:lnSpc>
                <a:buNone/>
              </a:pPr>
              <a:r>
                <a:rPr lang="en-US" sz="2000" dirty="0">
                  <a:solidFill>
                    <a:srgbClr val="FFFFFF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Реализация имитации гадания</a:t>
              </a:r>
              <a:endParaRPr lang="en-US" sz="2000" dirty="0"/>
            </a:p>
          </p:txBody>
        </p:sp>
        <p:sp>
          <p:nvSpPr>
            <p:cNvPr id="16" name="Text 12"/>
            <p:cNvSpPr/>
            <p:nvPr/>
          </p:nvSpPr>
          <p:spPr>
            <a:xfrm>
              <a:off x="2275483" y="4708667"/>
              <a:ext cx="6962243" cy="83480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lnSpc>
                  <a:spcPts val="3503"/>
                </a:lnSpc>
                <a:buNone/>
              </a:pPr>
              <a:r>
                <a:rPr lang="en-US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Нам удалось реализовать интерактивную имитацию гадания с </a:t>
              </a:r>
              <a:r>
                <a:rPr lang="en-US" dirty="0" err="1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помощью</a:t>
              </a:r>
              <a:r>
                <a:rPr lang="en-US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 </a:t>
              </a:r>
              <a:r>
                <a:rPr lang="ru-RU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совмещения телеграмм-бота и </a:t>
              </a:r>
              <a:r>
                <a:rPr lang="en-US" dirty="0" err="1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таро</a:t>
              </a:r>
              <a:r>
                <a:rPr lang="ru-RU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 карт</a:t>
              </a:r>
              <a:endParaRPr lang="en-US" dirty="0"/>
            </a:p>
          </p:txBody>
        </p:sp>
      </p:grp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0259709-786C-462D-BE62-09F54F67B3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0"/>
          <a:stretch/>
        </p:blipFill>
        <p:spPr>
          <a:xfrm>
            <a:off x="9772650" y="1"/>
            <a:ext cx="485775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7723" y="613227"/>
            <a:ext cx="13108147" cy="798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Полученные результаты</a:t>
            </a:r>
            <a:endParaRPr lang="en-US" sz="360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CF1ABEE0-1506-4697-B608-2E9FA7356156}"/>
              </a:ext>
            </a:extLst>
          </p:cNvPr>
          <p:cNvSpPr/>
          <p:nvPr/>
        </p:nvSpPr>
        <p:spPr>
          <a:xfrm>
            <a:off x="387723" y="1773197"/>
            <a:ext cx="627448" cy="587000"/>
          </a:xfrm>
          <a:prstGeom prst="roundRect">
            <a:avLst>
              <a:gd name="adj" fmla="val 13335"/>
            </a:avLst>
          </a:prstGeom>
          <a:solidFill>
            <a:srgbClr val="0B747F"/>
          </a:solidFill>
          <a:ln/>
        </p:spPr>
        <p:txBody>
          <a:bodyPr anchor="ctr" anchorCtr="1"/>
          <a:lstStyle/>
          <a:p>
            <a:r>
              <a:rPr lang="ru-RU" sz="2800" dirty="0">
                <a:solidFill>
                  <a:schemeClr val="bg1"/>
                </a:solidFill>
                <a:latin typeface="Unbounded" pitchFamily="2" charset="-52"/>
              </a:rPr>
              <a:t>1</a:t>
            </a:r>
            <a:endParaRPr lang="ru-RU" dirty="0">
              <a:solidFill>
                <a:schemeClr val="bg1"/>
              </a:solidFill>
              <a:latin typeface="Unbounded" pitchFamily="2" charset="-52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D2D730B-F6FB-4D12-BBBC-570A3929F606}"/>
              </a:ext>
            </a:extLst>
          </p:cNvPr>
          <p:cNvGrpSpPr/>
          <p:nvPr/>
        </p:nvGrpSpPr>
        <p:grpSpPr>
          <a:xfrm>
            <a:off x="387730" y="8517043"/>
            <a:ext cx="8809835" cy="1405662"/>
            <a:chOff x="387730" y="6184153"/>
            <a:chExt cx="8809835" cy="1405662"/>
          </a:xfrm>
        </p:grpSpPr>
        <p:sp>
          <p:nvSpPr>
            <p:cNvPr id="17" name="Shape 13"/>
            <p:cNvSpPr/>
            <p:nvPr/>
          </p:nvSpPr>
          <p:spPr>
            <a:xfrm>
              <a:off x="1015178" y="6445141"/>
              <a:ext cx="976044" cy="32512"/>
            </a:xfrm>
            <a:prstGeom prst="rect">
              <a:avLst/>
            </a:prstGeom>
            <a:solidFill>
              <a:srgbClr val="7BD849"/>
            </a:solidFill>
            <a:ln/>
          </p:spPr>
        </p:sp>
        <p:sp>
          <p:nvSpPr>
            <p:cNvPr id="20" name="Text 16"/>
            <p:cNvSpPr/>
            <p:nvPr/>
          </p:nvSpPr>
          <p:spPr>
            <a:xfrm>
              <a:off x="2235323" y="6224988"/>
              <a:ext cx="4662155" cy="40757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l">
                <a:lnSpc>
                  <a:spcPts val="3421"/>
                </a:lnSpc>
                <a:buNone/>
              </a:pPr>
              <a:r>
                <a:rPr lang="en-US" sz="2000" dirty="0">
                  <a:solidFill>
                    <a:srgbClr val="FFFFFF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Сбор обратной связи</a:t>
              </a:r>
              <a:endParaRPr lang="en-US" sz="2000" dirty="0"/>
            </a:p>
          </p:txBody>
        </p:sp>
        <p:sp>
          <p:nvSpPr>
            <p:cNvPr id="21" name="Text 17"/>
            <p:cNvSpPr/>
            <p:nvPr/>
          </p:nvSpPr>
          <p:spPr>
            <a:xfrm>
              <a:off x="2235322" y="6755009"/>
              <a:ext cx="6962243" cy="83480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lnSpc>
                  <a:spcPts val="3503"/>
                </a:lnSpc>
                <a:buNone/>
              </a:pPr>
              <a:r>
                <a:rPr lang="en-US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Мы собрали ценную обратную связь от студентов, которая поможет нам улучшить бот</a:t>
              </a:r>
              <a:endParaRPr lang="en-US" dirty="0"/>
            </a:p>
          </p:txBody>
        </p:sp>
        <p:sp>
          <p:nvSpPr>
            <p:cNvPr id="26" name="Shape 9">
              <a:extLst>
                <a:ext uri="{FF2B5EF4-FFF2-40B4-BE49-F238E27FC236}">
                  <a16:creationId xmlns:a16="http://schemas.microsoft.com/office/drawing/2014/main" id="{2C371BB9-C7F5-41A2-9C94-84C0FCC75F2C}"/>
                </a:ext>
              </a:extLst>
            </p:cNvPr>
            <p:cNvSpPr/>
            <p:nvPr/>
          </p:nvSpPr>
          <p:spPr>
            <a:xfrm>
              <a:off x="387730" y="6184153"/>
              <a:ext cx="627448" cy="587000"/>
            </a:xfrm>
            <a:prstGeom prst="roundRect">
              <a:avLst>
                <a:gd name="adj" fmla="val 13335"/>
              </a:avLst>
            </a:prstGeom>
            <a:solidFill>
              <a:srgbClr val="0B747F"/>
            </a:solidFill>
            <a:ln/>
          </p:spPr>
          <p:txBody>
            <a:bodyPr anchor="ctr" anchorCtr="1"/>
            <a:lstStyle/>
            <a:p>
              <a:r>
                <a:rPr lang="ru-RU" sz="2800" dirty="0">
                  <a:solidFill>
                    <a:schemeClr val="bg1"/>
                  </a:solidFill>
                  <a:latin typeface="Unbounded" pitchFamily="2" charset="-52"/>
                </a:rPr>
                <a:t>3</a:t>
              </a:r>
              <a:endParaRPr lang="ru-RU" dirty="0">
                <a:solidFill>
                  <a:schemeClr val="bg1"/>
                </a:solidFill>
                <a:latin typeface="Unbounded" pitchFamily="2" charset="-5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85006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/>
          <p:cNvSpPr/>
          <p:nvPr/>
        </p:nvSpPr>
        <p:spPr>
          <a:xfrm>
            <a:off x="684136" y="1919522"/>
            <a:ext cx="45857" cy="6438462"/>
          </a:xfrm>
          <a:prstGeom prst="rect">
            <a:avLst/>
          </a:prstGeom>
          <a:solidFill>
            <a:srgbClr val="7BD849"/>
          </a:solidFill>
          <a:ln/>
        </p:spPr>
      </p:sp>
      <p:sp>
        <p:nvSpPr>
          <p:cNvPr id="7" name="Shape 3"/>
          <p:cNvSpPr/>
          <p:nvPr/>
        </p:nvSpPr>
        <p:spPr>
          <a:xfrm>
            <a:off x="1015176" y="2066697"/>
            <a:ext cx="976044" cy="32512"/>
          </a:xfrm>
          <a:prstGeom prst="rect">
            <a:avLst/>
          </a:prstGeom>
          <a:solidFill>
            <a:srgbClr val="7BD849"/>
          </a:solidFill>
          <a:ln/>
        </p:spPr>
      </p:sp>
      <p:sp>
        <p:nvSpPr>
          <p:cNvPr id="10" name="Text 6"/>
          <p:cNvSpPr/>
          <p:nvPr/>
        </p:nvSpPr>
        <p:spPr>
          <a:xfrm>
            <a:off x="2235317" y="1687504"/>
            <a:ext cx="6962243" cy="8151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421"/>
              </a:lnSpc>
              <a:buNone/>
            </a:pPr>
            <a:r>
              <a:rPr lang="en-US" sz="20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Более</a:t>
            </a: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10</a:t>
            </a:r>
            <a:r>
              <a:rPr lang="ru-RU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%</a:t>
            </a: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ru-RU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студентов</a:t>
            </a:r>
            <a:r>
              <a:rPr lang="ru-RU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СПБПУ с институтов ИКНК, </a:t>
            </a:r>
            <a:r>
              <a:rPr lang="ru-RU" sz="20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ФизМех</a:t>
            </a:r>
            <a:r>
              <a:rPr lang="ru-RU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, ИЭ, ИММИТ  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2235319" y="2625096"/>
            <a:ext cx="7211984" cy="129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  <a:tabLst>
                <a:tab pos="3857625" algn="l"/>
              </a:tabLst>
            </a:pP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Нашим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ботом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заинтересовалось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более</a:t>
            </a:r>
            <a:r>
              <a:rPr lang="ru-RU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10% студентов СПБПУ с институтов ИКНК, </a:t>
            </a:r>
            <a:r>
              <a:rPr lang="ru-RU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ФизМех</a:t>
            </a:r>
            <a:r>
              <a:rPr lang="ru-RU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ИЭ, ИММИТ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студентов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что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превысило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наши</a:t>
            </a: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ожидания</a:t>
            </a:r>
            <a:endParaRPr lang="en-US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34F50FAC-DF27-47EE-B35C-964DA2384C49}"/>
              </a:ext>
            </a:extLst>
          </p:cNvPr>
          <p:cNvGrpSpPr/>
          <p:nvPr/>
        </p:nvGrpSpPr>
        <p:grpSpPr>
          <a:xfrm>
            <a:off x="427892" y="4120234"/>
            <a:ext cx="8809834" cy="1423239"/>
            <a:chOff x="427892" y="4120234"/>
            <a:chExt cx="8809834" cy="1423239"/>
          </a:xfrm>
        </p:grpSpPr>
        <p:sp>
          <p:nvSpPr>
            <p:cNvPr id="13" name="Shape 9"/>
            <p:cNvSpPr/>
            <p:nvPr/>
          </p:nvSpPr>
          <p:spPr>
            <a:xfrm>
              <a:off x="427892" y="4120234"/>
              <a:ext cx="627448" cy="587000"/>
            </a:xfrm>
            <a:prstGeom prst="roundRect">
              <a:avLst>
                <a:gd name="adj" fmla="val 13335"/>
              </a:avLst>
            </a:prstGeom>
            <a:solidFill>
              <a:srgbClr val="0B747F"/>
            </a:solidFill>
            <a:ln/>
          </p:spPr>
          <p:txBody>
            <a:bodyPr anchor="ctr" anchorCtr="1"/>
            <a:lstStyle/>
            <a:p>
              <a:r>
                <a:rPr lang="ru-RU" sz="2800" dirty="0">
                  <a:solidFill>
                    <a:schemeClr val="bg1"/>
                  </a:solidFill>
                  <a:latin typeface="Unbounded" pitchFamily="2" charset="-52"/>
                </a:rPr>
                <a:t>2</a:t>
              </a:r>
              <a:endParaRPr lang="ru-RU" dirty="0">
                <a:solidFill>
                  <a:schemeClr val="bg1"/>
                </a:solidFill>
                <a:latin typeface="Unbounded" pitchFamily="2" charset="-52"/>
              </a:endParaRPr>
            </a:p>
          </p:txBody>
        </p:sp>
        <p:sp>
          <p:nvSpPr>
            <p:cNvPr id="12" name="Shape 8"/>
            <p:cNvSpPr/>
            <p:nvPr/>
          </p:nvSpPr>
          <p:spPr>
            <a:xfrm>
              <a:off x="1055340" y="4397366"/>
              <a:ext cx="976044" cy="32512"/>
            </a:xfrm>
            <a:prstGeom prst="rect">
              <a:avLst/>
            </a:prstGeom>
            <a:solidFill>
              <a:srgbClr val="7BD849"/>
            </a:solidFill>
            <a:ln/>
          </p:spPr>
        </p:sp>
        <p:sp>
          <p:nvSpPr>
            <p:cNvPr id="15" name="Text 11"/>
            <p:cNvSpPr/>
            <p:nvPr/>
          </p:nvSpPr>
          <p:spPr>
            <a:xfrm>
              <a:off x="2275485" y="4177213"/>
              <a:ext cx="6793497" cy="40757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l">
                <a:lnSpc>
                  <a:spcPts val="3421"/>
                </a:lnSpc>
                <a:buNone/>
              </a:pPr>
              <a:r>
                <a:rPr lang="en-US" sz="2000" dirty="0">
                  <a:solidFill>
                    <a:srgbClr val="FFFFFF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Реализация имитации гадания</a:t>
              </a:r>
              <a:endParaRPr lang="en-US" sz="2000" dirty="0"/>
            </a:p>
          </p:txBody>
        </p:sp>
        <p:sp>
          <p:nvSpPr>
            <p:cNvPr id="16" name="Text 12"/>
            <p:cNvSpPr/>
            <p:nvPr/>
          </p:nvSpPr>
          <p:spPr>
            <a:xfrm>
              <a:off x="2275483" y="4708667"/>
              <a:ext cx="6962243" cy="83480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lnSpc>
                  <a:spcPts val="3503"/>
                </a:lnSpc>
                <a:buNone/>
              </a:pPr>
              <a:r>
                <a:rPr lang="en-US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Нам удалось реализовать интерактивную имитацию гадания с </a:t>
              </a:r>
              <a:r>
                <a:rPr lang="en-US" dirty="0" err="1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помощью</a:t>
              </a:r>
              <a:r>
                <a:rPr lang="en-US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 </a:t>
              </a:r>
              <a:r>
                <a:rPr lang="ru-RU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совмещения телеграмм-бота и </a:t>
              </a:r>
              <a:r>
                <a:rPr lang="en-US" dirty="0" err="1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таро</a:t>
              </a:r>
              <a:r>
                <a:rPr lang="ru-RU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 карт</a:t>
              </a:r>
              <a:endParaRPr lang="en-US" dirty="0"/>
            </a:p>
          </p:txBody>
        </p:sp>
      </p:grp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0259709-786C-462D-BE62-09F54F67B3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0"/>
          <a:stretch/>
        </p:blipFill>
        <p:spPr>
          <a:xfrm>
            <a:off x="9772650" y="1"/>
            <a:ext cx="485775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7723" y="613227"/>
            <a:ext cx="13108147" cy="798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Полученные результаты</a:t>
            </a:r>
            <a:endParaRPr lang="en-US" sz="360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CF1ABEE0-1506-4697-B608-2E9FA7356156}"/>
              </a:ext>
            </a:extLst>
          </p:cNvPr>
          <p:cNvSpPr/>
          <p:nvPr/>
        </p:nvSpPr>
        <p:spPr>
          <a:xfrm>
            <a:off x="387723" y="1773197"/>
            <a:ext cx="627448" cy="587000"/>
          </a:xfrm>
          <a:prstGeom prst="roundRect">
            <a:avLst>
              <a:gd name="adj" fmla="val 13335"/>
            </a:avLst>
          </a:prstGeom>
          <a:solidFill>
            <a:srgbClr val="0B747F"/>
          </a:solidFill>
          <a:ln/>
        </p:spPr>
        <p:txBody>
          <a:bodyPr anchor="ctr" anchorCtr="1"/>
          <a:lstStyle/>
          <a:p>
            <a:r>
              <a:rPr lang="ru-RU" sz="2800" dirty="0">
                <a:solidFill>
                  <a:schemeClr val="bg1"/>
                </a:solidFill>
                <a:latin typeface="Unbounded" pitchFamily="2" charset="-52"/>
              </a:rPr>
              <a:t>1</a:t>
            </a:r>
            <a:endParaRPr lang="ru-RU" dirty="0">
              <a:solidFill>
                <a:schemeClr val="bg1"/>
              </a:solidFill>
              <a:latin typeface="Unbounded" pitchFamily="2" charset="-52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D2D730B-F6FB-4D12-BBBC-570A3929F606}"/>
              </a:ext>
            </a:extLst>
          </p:cNvPr>
          <p:cNvGrpSpPr/>
          <p:nvPr/>
        </p:nvGrpSpPr>
        <p:grpSpPr>
          <a:xfrm>
            <a:off x="387730" y="6184153"/>
            <a:ext cx="8809835" cy="1405662"/>
            <a:chOff x="387730" y="6184153"/>
            <a:chExt cx="8809835" cy="1405662"/>
          </a:xfrm>
        </p:grpSpPr>
        <p:sp>
          <p:nvSpPr>
            <p:cNvPr id="17" name="Shape 13"/>
            <p:cNvSpPr/>
            <p:nvPr/>
          </p:nvSpPr>
          <p:spPr>
            <a:xfrm>
              <a:off x="1015178" y="6445141"/>
              <a:ext cx="976044" cy="32512"/>
            </a:xfrm>
            <a:prstGeom prst="rect">
              <a:avLst/>
            </a:prstGeom>
            <a:solidFill>
              <a:srgbClr val="7BD849"/>
            </a:solidFill>
            <a:ln/>
          </p:spPr>
        </p:sp>
        <p:sp>
          <p:nvSpPr>
            <p:cNvPr id="20" name="Text 16"/>
            <p:cNvSpPr/>
            <p:nvPr/>
          </p:nvSpPr>
          <p:spPr>
            <a:xfrm>
              <a:off x="2235323" y="6224988"/>
              <a:ext cx="4662155" cy="40757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l">
                <a:lnSpc>
                  <a:spcPts val="3421"/>
                </a:lnSpc>
                <a:buNone/>
              </a:pPr>
              <a:r>
                <a:rPr lang="en-US" sz="2000" dirty="0">
                  <a:solidFill>
                    <a:srgbClr val="FFFFFF"/>
                  </a:solidFill>
                  <a:latin typeface="Unbounded" pitchFamily="34" charset="0"/>
                  <a:ea typeface="Unbounded" pitchFamily="34" charset="-122"/>
                  <a:cs typeface="Unbounded" pitchFamily="34" charset="-120"/>
                </a:rPr>
                <a:t>Сбор обратной связи</a:t>
              </a:r>
              <a:endParaRPr lang="en-US" sz="2000" dirty="0"/>
            </a:p>
          </p:txBody>
        </p:sp>
        <p:sp>
          <p:nvSpPr>
            <p:cNvPr id="21" name="Text 17"/>
            <p:cNvSpPr/>
            <p:nvPr/>
          </p:nvSpPr>
          <p:spPr>
            <a:xfrm>
              <a:off x="2235322" y="6755009"/>
              <a:ext cx="6962243" cy="83480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lnSpc>
                  <a:spcPts val="3503"/>
                </a:lnSpc>
                <a:buNone/>
              </a:pPr>
              <a:r>
                <a:rPr lang="en-US" dirty="0">
                  <a:solidFill>
                    <a:srgbClr val="CAD6DE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Мы собрали ценную обратную связь от студентов, которая поможет нам улучшить бот</a:t>
              </a:r>
              <a:endParaRPr lang="en-US" dirty="0"/>
            </a:p>
          </p:txBody>
        </p:sp>
        <p:sp>
          <p:nvSpPr>
            <p:cNvPr id="26" name="Shape 9">
              <a:extLst>
                <a:ext uri="{FF2B5EF4-FFF2-40B4-BE49-F238E27FC236}">
                  <a16:creationId xmlns:a16="http://schemas.microsoft.com/office/drawing/2014/main" id="{2C371BB9-C7F5-41A2-9C94-84C0FCC75F2C}"/>
                </a:ext>
              </a:extLst>
            </p:cNvPr>
            <p:cNvSpPr/>
            <p:nvPr/>
          </p:nvSpPr>
          <p:spPr>
            <a:xfrm>
              <a:off x="387730" y="6184153"/>
              <a:ext cx="627448" cy="587000"/>
            </a:xfrm>
            <a:prstGeom prst="roundRect">
              <a:avLst>
                <a:gd name="adj" fmla="val 13335"/>
              </a:avLst>
            </a:prstGeom>
            <a:solidFill>
              <a:srgbClr val="0B747F"/>
            </a:solidFill>
            <a:ln/>
          </p:spPr>
          <p:txBody>
            <a:bodyPr anchor="ctr" anchorCtr="1"/>
            <a:lstStyle/>
            <a:p>
              <a:r>
                <a:rPr lang="ru-RU" sz="2800" dirty="0">
                  <a:solidFill>
                    <a:schemeClr val="bg1"/>
                  </a:solidFill>
                  <a:latin typeface="Unbounded" pitchFamily="2" charset="-52"/>
                </a:rPr>
                <a:t>3</a:t>
              </a:r>
              <a:endParaRPr lang="ru-RU" dirty="0">
                <a:solidFill>
                  <a:schemeClr val="bg1"/>
                </a:solidFill>
                <a:latin typeface="Unbounded" pitchFamily="2" charset="-5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63691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 hidden="1"/>
          <p:cNvSpPr/>
          <p:nvPr/>
        </p:nvSpPr>
        <p:spPr>
          <a:xfrm>
            <a:off x="1042630" y="1129665"/>
            <a:ext cx="9828609" cy="8687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Дальнейшее развитие</a:t>
            </a:r>
            <a:endParaRPr lang="en-US" sz="4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630" y="2554486"/>
            <a:ext cx="695087" cy="69508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2630" y="3527584"/>
            <a:ext cx="60639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421"/>
              </a:lnSpc>
              <a:buNone/>
            </a:pPr>
            <a:r>
              <a:rPr lang="en-US" sz="2737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Персонализированные предсказания</a:t>
            </a:r>
            <a:endParaRPr lang="en-US" sz="2737" dirty="0"/>
          </a:p>
        </p:txBody>
      </p:sp>
      <p:sp>
        <p:nvSpPr>
          <p:cNvPr id="7" name="Text 3"/>
          <p:cNvSpPr/>
          <p:nvPr/>
        </p:nvSpPr>
        <p:spPr>
          <a:xfrm>
            <a:off x="1042630" y="4563070"/>
            <a:ext cx="6063972" cy="17792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503"/>
              </a:lnSpc>
              <a:buNone/>
            </a:pPr>
            <a:r>
              <a:rPr lang="en-US" sz="2189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Планируется ввести персонализированные предсказания, основанные на индивидуальных особенностях пользователей</a:t>
            </a:r>
            <a:endParaRPr lang="en-US" sz="2189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678" y="2554486"/>
            <a:ext cx="695087" cy="69508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523678" y="3527584"/>
            <a:ext cx="4472226" cy="43434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421"/>
              </a:lnSpc>
              <a:buNone/>
            </a:pPr>
            <a:r>
              <a:rPr lang="en-US" sz="2737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Улучшение контента</a:t>
            </a:r>
            <a:endParaRPr lang="en-US" sz="2737" dirty="0"/>
          </a:p>
        </p:txBody>
      </p:sp>
      <p:sp>
        <p:nvSpPr>
          <p:cNvPr id="10" name="Text 5"/>
          <p:cNvSpPr/>
          <p:nvPr/>
        </p:nvSpPr>
        <p:spPr>
          <a:xfrm>
            <a:off x="7523678" y="4128730"/>
            <a:ext cx="6064091" cy="889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503"/>
              </a:lnSpc>
              <a:buNone/>
            </a:pPr>
            <a:r>
              <a:rPr lang="en-US" sz="2189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Будет улучшен текст на некоторых картах для более </a:t>
            </a:r>
            <a:r>
              <a:rPr lang="en-US" sz="2189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точного</a:t>
            </a:r>
            <a:r>
              <a:rPr lang="en-US" sz="2189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ru-RU" sz="2189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и грамотного </a:t>
            </a:r>
            <a:r>
              <a:rPr lang="en-US" sz="2189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гадания</a:t>
            </a:r>
            <a:endParaRPr lang="en-US" sz="2189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06BE60DD-482F-47B9-92B7-BAB5A961F003}"/>
              </a:ext>
            </a:extLst>
          </p:cNvPr>
          <p:cNvSpPr/>
          <p:nvPr/>
        </p:nvSpPr>
        <p:spPr>
          <a:xfrm>
            <a:off x="1042630" y="1129665"/>
            <a:ext cx="13108147" cy="17375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ru-RU" sz="4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Дальнейшее развитие</a:t>
            </a:r>
            <a:endParaRPr lang="en-US" sz="40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74C008-7661-4D6D-B136-8EBA140EF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950000" y="4980028"/>
            <a:ext cx="5333333" cy="556190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0D026BF-DF36-4286-B4A8-27D782C9FA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3390" y="-3148446"/>
            <a:ext cx="6247619" cy="4352381"/>
          </a:xfrm>
          <a:prstGeom prst="rect">
            <a:avLst/>
          </a:prstGeom>
        </p:spPr>
      </p:pic>
      <p:sp>
        <p:nvSpPr>
          <p:cNvPr id="20" name="Text 1">
            <a:extLst>
              <a:ext uri="{FF2B5EF4-FFF2-40B4-BE49-F238E27FC236}">
                <a16:creationId xmlns:a16="http://schemas.microsoft.com/office/drawing/2014/main" id="{285625D2-9EBB-427B-89A7-C4444D4734B0}"/>
              </a:ext>
            </a:extLst>
          </p:cNvPr>
          <p:cNvSpPr/>
          <p:nvPr/>
        </p:nvSpPr>
        <p:spPr>
          <a:xfrm>
            <a:off x="1042630" y="1203935"/>
            <a:ext cx="13108147" cy="17375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ru-RU" sz="4800" dirty="0">
                <a:solidFill>
                  <a:srgbClr val="FFFFFF">
                    <a:alpha val="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Спасибо за внимание!</a:t>
            </a:r>
            <a:endParaRPr lang="en-US" sz="4800" dirty="0">
              <a:solidFill>
                <a:schemeClr val="tx1">
                  <a:alpha val="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Char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 hidden="1">
            <a:extLst>
              <a:ext uri="{FF2B5EF4-FFF2-40B4-BE49-F238E27FC236}">
                <a16:creationId xmlns:a16="http://schemas.microsoft.com/office/drawing/2014/main" id="{2466C8F2-5475-462A-975C-D137B16E5419}"/>
              </a:ext>
            </a:extLst>
          </p:cNvPr>
          <p:cNvSpPr/>
          <p:nvPr/>
        </p:nvSpPr>
        <p:spPr>
          <a:xfrm>
            <a:off x="3519613" y="4602070"/>
            <a:ext cx="9828609" cy="8687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ru-RU" sz="5474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Спасибо за внимание!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94B7DAE-BB9D-4ECE-9EA3-7B5B7E88F267}"/>
              </a:ext>
            </a:extLst>
          </p:cNvPr>
          <p:cNvSpPr/>
          <p:nvPr/>
        </p:nvSpPr>
        <p:spPr>
          <a:xfrm>
            <a:off x="3837113" y="4652870"/>
            <a:ext cx="13108147" cy="17375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842"/>
              </a:lnSpc>
              <a:buNone/>
            </a:pPr>
            <a:r>
              <a:rPr lang="ru-RU" sz="4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Спасибо за внимание!</a:t>
            </a:r>
            <a:endParaRPr lang="en-US" sz="4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58A8F43-3B80-43DB-9C16-7C0A36117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695"/>
            <a:ext cx="5333333" cy="556190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117E227-A719-4D7A-BE5D-859CB61C5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781" y="0"/>
            <a:ext cx="6247619" cy="4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2830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511</Words>
  <Application>Microsoft Office PowerPoint</Application>
  <PresentationFormat>Произвольный</PresentationFormat>
  <Paragraphs>100</Paragraphs>
  <Slides>22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9" baseType="lpstr">
      <vt:lpstr>Arial</vt:lpstr>
      <vt:lpstr>Bahnschrift Condensed</vt:lpstr>
      <vt:lpstr>Cabin</vt:lpstr>
      <vt:lpstr>Calibri</vt:lpstr>
      <vt:lpstr>Unbounded</vt:lpstr>
      <vt:lpstr>Unbounded ExtraLight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Василиса Черникова</cp:lastModifiedBy>
  <cp:revision>33</cp:revision>
  <dcterms:created xsi:type="dcterms:W3CDTF">2024-05-18T13:46:54Z</dcterms:created>
  <dcterms:modified xsi:type="dcterms:W3CDTF">2024-05-19T17:14:31Z</dcterms:modified>
</cp:coreProperties>
</file>